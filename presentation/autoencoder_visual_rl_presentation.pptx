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7"/>
  </p:notesMasterIdLst>
  <p:sldIdLst>
    <p:sldId id="256" r:id="rId3"/>
    <p:sldId id="267" r:id="rId4"/>
    <p:sldId id="269" r:id="rId5"/>
    <p:sldId id="282" r:id="rId6"/>
    <p:sldId id="270" r:id="rId7"/>
    <p:sldId id="283" r:id="rId8"/>
    <p:sldId id="272" r:id="rId9"/>
    <p:sldId id="284" r:id="rId10"/>
    <p:sldId id="275" r:id="rId11"/>
    <p:sldId id="276" r:id="rId12"/>
    <p:sldId id="285" r:id="rId13"/>
    <p:sldId id="277" r:id="rId14"/>
    <p:sldId id="278" r:id="rId15"/>
    <p:sldId id="279" r:id="rId16"/>
    <p:sldId id="288" r:id="rId17"/>
    <p:sldId id="289" r:id="rId18"/>
    <p:sldId id="290" r:id="rId19"/>
    <p:sldId id="286" r:id="rId20"/>
    <p:sldId id="280" r:id="rId21"/>
    <p:sldId id="291" r:id="rId22"/>
    <p:sldId id="287" r:id="rId23"/>
    <p:sldId id="281" r:id="rId24"/>
    <p:sldId id="292" r:id="rId25"/>
    <p:sldId id="268" r:id="rId26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0000"/>
    <a:srgbClr val="4C0000"/>
    <a:srgbClr val="5C0000"/>
    <a:srgbClr val="800000"/>
    <a:srgbClr val="FF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675604-86A5-43B0-ABED-A7EB9930D395}" v="4114" dt="2026-06-10T15:28:16.959"/>
    <p1510:client id="{FE3CD2AF-C6EC-4DB5-9A9C-F5CEADFA48D7}" v="1192" dt="2026-06-11T09:37:03.6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4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9ED68F-A3FC-453E-AB48-95082AA81B68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10883-CFAA-40E9-8C0C-66DEAD1F67F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0401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110883-CFAA-40E9-8C0C-66DEAD1F67FA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7140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7167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3C48A-DAB1-A970-E9E2-E194C867D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1BEF6-57B6-38E4-E854-2E14EBDD2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4A4237-4CF8-1811-860A-26A3C3247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CBEFD-77BB-8DD2-035B-0E1830490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590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BD2EC-234C-8BFA-81FA-6EC9E61F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676CD-BC61-F838-76D3-9F110D57E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72B7C-1E78-FD57-F26F-803B60F4F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782D1-EDD2-A2FF-7718-FA5A8652A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6852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BE62C-297A-BCDB-2AB5-52863D002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845D2-F2BC-5922-7315-40FCFC151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8B5A75-355A-BF2E-38C2-9CCFC4A73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D4366-8113-EEB8-81FD-F1027FA0E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433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04EA6-9472-A84A-85C6-EAFD0678A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45AAC-6DFB-66AF-B650-168C2C3A7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B53D6-E516-E135-EF05-5EFF94FA0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422C5-8C73-B4A8-116D-05293088A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4716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E444A-EC4B-C054-81E8-1BFC60BBD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D7007-84BC-6966-2EEA-061A42334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7FD00-85E0-D143-56A1-6A91769C1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644D4-2280-3DCE-9D95-DB350491F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3871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7EBFD-C94F-8A6A-FB54-43BB2D96A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1E152-40D7-4E49-0AB3-EDF2A4ED5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4024A-14B7-61C3-F56A-007424373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849A7-AE35-72DF-0859-0F2D7405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8592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090E5-A43C-CF49-5F37-6501CA270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A9F11-9865-2780-D174-B8F1F324D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E04A31-DB52-4F7A-CC5B-0482B4C0C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F1EFB-99FD-5E2F-0C6C-028AED38A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0968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1C9F5-EE75-691F-DC79-D82D8A55B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FCE7D-4315-B9A1-6DBA-CD7700285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D29908-ED65-CBFE-C724-79FE1DA25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AE6B2-66F2-C12E-337D-0C6F8B377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8269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42714-6CA4-0A38-3A6D-FD4E1612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170E4-5836-0FF8-509D-160706BB3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B25FFC-8C1C-6377-48BA-9DE60F750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7E416-49EF-1966-89F5-8EEED4A30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321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E0454-E7BC-D705-F61D-0482C4ED5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F5097-3E80-9781-4A23-E422EA370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C021C-184B-2613-E741-B7D39C0DA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E27AD-7834-8944-F50A-00AAADCF5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730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6B762-F294-4BA6-0CE9-139660DE2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F5E1E-7748-FB67-7EE5-743ECB7AE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C8308-3991-A498-F63D-ECFB55452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8E59F-D554-3403-9429-FE6D848AA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145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BF5D6-6C6F-6F25-36D7-1A1F37581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1826D-8D5B-8826-A8F4-F9DFBB449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143EF2-45AD-B7F8-A3CD-C86AC363A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FF5B6-9AE0-3DC3-C4A5-B08FD87C1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9871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02869-8BBB-730A-518C-B8E87314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1D6E9-1771-BBAE-F08B-B1501F604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7B041-F2C9-1CE7-3A69-D1BA3FAA1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4780F-A4A7-A905-02BF-879F8C77C1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74622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D9C76-E100-0931-A58B-6055989B8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0C418-86A3-1F2B-FCA0-39CCFE02A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FCEFB-5A54-FAB3-6653-CEE7E80E8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BB294-7C72-B4BC-124F-7960676592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51400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D03EC-B1E8-D3B0-5DFD-F1F68F9AC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A085F-402A-CBD6-F529-841A0A106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D5992D-6FC5-96B2-D1F4-97809FA97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B1BAF-6D28-1ACF-E936-3FD7F4331E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4274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18992-38F1-4929-CA33-45023541E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1055C-2ED1-8917-7F18-2AD586884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AA128-3232-AB2A-EC86-0B6F34974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4F3B4-648D-01F2-2C08-EB24EF496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30390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38BE1-1FE8-50A8-0A27-E26C9E7A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DA947-D9B2-5342-E5F4-65E02B3DE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335DF-CEC4-3F62-4EE4-A147AB76F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323B2-0879-6D37-879E-230C45046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39245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38CF6-291F-D34F-4B65-F93245E2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990CF-1AA7-F16C-0B8B-704D4BF95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8DAAD-3D46-CEBD-C01C-59F55B376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F5896-CDD0-14BA-FDD0-EA37D3F1E5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29239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DCC7E-1BB3-385A-BAB9-1C50D2C9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C2EC0-1E16-80AD-240A-13993B986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13038C-1881-0B06-340F-E79DBFD7C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3AC15-19B3-B1BB-B5B4-598D1C7AC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7054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FB63B-F1FC-0889-5531-14228F1C9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D3296-B2BD-C109-A299-96A8AFF8E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B2A46-9A4D-AB98-B98B-FBF3BFF36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AD8D4-D79C-A6E6-DCD2-D01EE2190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22873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88B7A-7E4B-5658-BFF8-4D1F0A18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6C723-3915-B0E0-D49D-DC89D97AC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7ED36C-3FFC-E64B-8982-013EC0F2E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3357C-95CF-8F39-F96A-F160DD92C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11531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C95E0-B9A0-ADDA-AC13-F8F63150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42B11-3687-F3F4-B76E-1617275A2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8B751-ACD8-CECD-CDD4-4EFFF6CFD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01394-F5DD-D532-2046-2E8F5428F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CA171-2CCA-4F87-810B-58CEB317CF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7872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8D4D-32C8-C619-ACAC-1C11F2FEC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4D2CD6-F7CC-5A03-46BA-65EE3FAD8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2520C-AB31-32D0-28F5-FA0672054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BC6C1-7281-F2DF-88AD-DBF63248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471E1-974B-9B57-80FB-B65AE6AB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32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24FB-E121-1804-A68B-76093275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1F007-E1C1-E59F-F3FB-DC706FAA7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F06D6-E013-C05E-9C7B-C8C957F0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05840" y="7574280"/>
            <a:ext cx="13624560" cy="655320"/>
          </a:xfrm>
          <a:solidFill>
            <a:schemeClr val="tx2"/>
          </a:solidFill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010D8-6002-A8F4-4D5E-E95C1D9C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7574282"/>
            <a:ext cx="1005840" cy="655319"/>
          </a:xfrm>
          <a:solidFill>
            <a:schemeClr val="tx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064EB808-9DE5-4B01-8298-DD0372440E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82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91D7C-77AE-E08F-A431-309BDA94F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B671-3464-4301-C2F7-FCFA238D5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0B6E5-B8CE-4D71-F8E3-ACC98E65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BE147-B685-AEE8-8F87-72C5A12D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DEF5C-05F4-0FC6-CA1C-A108C086C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75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38E78-03D5-BB16-215F-C437D266F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C775D-B685-CAF0-3C27-52D357018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69DF9-898E-6EBB-37F8-93F5B5191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5B7A5-002A-E426-57CA-177151D58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B1ED3-AA76-3DE3-2E9A-241774349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6E4BA-174F-4F7C-4D01-AE0DEDAF9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12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D14F8-AC16-062A-02BC-9C53B1283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7D4D8-1840-933A-7EC6-959092D75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49A01-7143-7746-D1D3-8830F1642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A4FDF2-D8DF-7BC8-5F5B-4A71386D43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3DAD9-A7B4-22ED-B581-4E9C66594F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BAA1B-405D-BB4B-3A14-816F7B10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10233-128D-943B-6A82-6986DD39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17291-A7AD-EED3-F282-EEC91B06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30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40BA-1863-2FFA-E73F-64FD3715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76D8F-0BF3-46FF-D83C-4CEF76C91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162A52-56A8-5A9A-503C-018A1395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2FDF4-75D9-642D-E08A-2BF689977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814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6A80A-9268-9641-6A4D-E8B548B2E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378F6C-5654-05AB-6DE1-551391275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8B9C3-D6AD-1AAA-D0B9-0EB8E75E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84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E792-F9EF-5D98-723B-03C30B93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FC964-0B83-DFDE-0824-26DEB5917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A971F-743D-CC0E-C4C3-3001F71F2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363ED-1EB2-987E-7B7F-C0A62AC5E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A18A9-5BE0-B91D-E9E2-DB9ADF522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F40B2-123B-AD71-6955-812C1677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094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90BC5-6005-F4CC-4CBB-A17C54308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49C2B4-4DC9-BA27-6321-EE3D9FBEC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025B6-CAFA-E9D2-4461-53F577E0B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36CAD-9A79-72B8-15D4-7732B214A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F6F5E-559F-FB58-E3C4-6E69E7E43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CE32-2BFD-374D-7A90-D369D4D9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969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8624-EEEF-20FE-9B0E-F7A543AD3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81B93-8DF0-665E-4483-277B0C7E0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C5162-8676-C808-9A49-C99206E8C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7840-CFD7-4D00-43AD-C18576D13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BB7ED-D096-47E1-7C0F-B69D0E216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543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F6703-86D6-70CF-EC9D-7D3372671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4A2C2-8214-EA24-CFBA-48FC24617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4A020-9B17-F443-8316-35E69CFA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075B0-6902-FA83-F852-34CD64D37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0F0E2-7D14-E612-20FD-A2B04155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98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0A2A69-4679-D2A5-C398-48C84D0C8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A7114-EA36-8529-ED0A-BD6E3335A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7DDCF-C16C-FCCC-8AC2-1AF909F4EF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877740" y="7682865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26200-65B6-EF43-2BB6-D11A147A9B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" y="7579582"/>
            <a:ext cx="14630400" cy="655320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96455-1244-8EB7-F622-CE8CF0C79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1" y="7574280"/>
            <a:ext cx="908094" cy="655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bg1"/>
                </a:solidFill>
              </a:defRPr>
            </a:lvl1pPr>
          </a:lstStyle>
          <a:p>
            <a:pPr algn="ctr"/>
            <a:fld id="{064EB808-9DE5-4B01-8298-DD0372440E09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71217" y="1382846"/>
            <a:ext cx="8919393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 sz="4800" b="1">
                <a:solidFill>
                  <a:srgbClr val="820000"/>
                </a:solidFill>
              </a:defRPr>
            </a:pPr>
            <a:r>
              <a:rPr lang="en-US" sz="2800">
                <a:latin typeface="Arial"/>
                <a:cs typeface="Arial"/>
              </a:rPr>
              <a:t>Autoencoder-based Visual RL in CarRacing-v3</a:t>
            </a:r>
            <a:endParaRPr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624560" y="774496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5A5A"/>
                </a:solidFill>
              </a:defRPr>
            </a:pPr>
            <a:r>
              <a:t>1</a:t>
            </a:r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DB976473-A796-4E73-FC21-115B458B6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485" y="0"/>
            <a:ext cx="6172200" cy="8229600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7E42556D-99A5-0721-3211-77AE7D3E1472}"/>
              </a:ext>
            </a:extLst>
          </p:cNvPr>
          <p:cNvSpPr txBox="1">
            <a:spLocks/>
          </p:cNvSpPr>
          <p:nvPr/>
        </p:nvSpPr>
        <p:spPr>
          <a:xfrm>
            <a:off x="464347" y="2600735"/>
            <a:ext cx="8926263" cy="3348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Bachelor’s Degree Programme in Applied Computer Science and Artificial Intelligence</a:t>
            </a:r>
          </a:p>
        </p:txBody>
      </p:sp>
      <p:sp>
        <p:nvSpPr>
          <p:cNvPr id="31" name="TextBox 7">
            <a:extLst>
              <a:ext uri="{FF2B5EF4-FFF2-40B4-BE49-F238E27FC236}">
                <a16:creationId xmlns:a16="http://schemas.microsoft.com/office/drawing/2014/main" id="{90555DAD-DFA3-E756-6A0D-294D20C8CA6D}"/>
              </a:ext>
            </a:extLst>
          </p:cNvPr>
          <p:cNvSpPr txBox="1"/>
          <p:nvPr/>
        </p:nvSpPr>
        <p:spPr>
          <a:xfrm>
            <a:off x="464950" y="7210309"/>
            <a:ext cx="15720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020"/>
                </a:solidFill>
              </a:defRPr>
            </a:pPr>
            <a:r>
              <a:rPr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A.Y. 2025/2026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3A23DD99-6430-864B-9F1F-AF47F5649B68}"/>
              </a:ext>
            </a:extLst>
          </p:cNvPr>
          <p:cNvSpPr txBox="1">
            <a:spLocks/>
          </p:cNvSpPr>
          <p:nvPr/>
        </p:nvSpPr>
        <p:spPr>
          <a:xfrm>
            <a:off x="468479" y="2980599"/>
            <a:ext cx="8929220" cy="33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olidFill>
                  <a:srgbClr val="8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1FC1CC2A-BE86-2DE3-69F1-D957AB49F68B}"/>
              </a:ext>
            </a:extLst>
          </p:cNvPr>
          <p:cNvSpPr txBox="1">
            <a:spLocks/>
          </p:cNvSpPr>
          <p:nvPr/>
        </p:nvSpPr>
        <p:spPr>
          <a:xfrm>
            <a:off x="468236" y="3826398"/>
            <a:ext cx="8929220" cy="3385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olidFill>
                  <a:srgbClr val="820000"/>
                </a:solidFill>
                <a:latin typeface="Arial"/>
                <a:ea typeface="Calibri"/>
                <a:cs typeface="Arial"/>
              </a:rPr>
              <a:t>Andrea Catino (catino.2154867@studenti.uniroma1.it)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ACDC7525-862D-6825-7F83-F9612C2005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AB6D99D0-AD8A-8D75-1184-B15FA95669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6B1135-D3D5-821B-3C54-0586D9F14115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it-IT" sz="3360">
                <a:ln w="0"/>
                <a:solidFill>
                  <a:prstClr val="white"/>
                </a:solidFill>
                <a:latin typeface="Arial" panose="020B0604020202020204"/>
              </a:rPr>
              <a:t>Table of Contents</a:t>
            </a:r>
            <a:endParaRPr lang="en-US" sz="3360">
              <a:ln w="0"/>
              <a:solidFill>
                <a:prstClr val="white"/>
              </a:solidFill>
              <a:latin typeface="Arial" panose="020B060402020202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DE0E78-87DB-393C-11F6-8C0A6F93DFA9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>
                <a:solidFill>
                  <a:prstClr val="white"/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Problem and Motivation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Related Work and Gap with Respect to the State of the Art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Proposed Solution and Our Contribution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Dataset and Experimental Protocol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Critical Discussion and Limitations</a:t>
            </a:r>
          </a:p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 noProof="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2824033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4C2D9-F5EB-2FE5-7178-63818FE8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96B7BA1-CF44-A572-2129-32353BD02488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1A1CA9D-D7A7-CEB5-E37E-52150B385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z="1400" smtClean="0"/>
              <a:pPr/>
              <a:t>3</a:t>
            </a:fld>
            <a:r>
              <a:rPr lang="en-US" sz="1400"/>
              <a:t>/23</a:t>
            </a:r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38B2124-B212-8386-9A95-E948C3857616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74AB286C-60E6-FCE1-6C71-969A71FA04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89281F9C-FE4C-B132-451C-AB0FC1C1B82E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2800" b="1">
                <a:ln w="0"/>
                <a:solidFill>
                  <a:srgbClr val="820000"/>
                </a:solidFill>
                <a:ea typeface="+mn-lt"/>
                <a:cs typeface="+mn-lt"/>
              </a:rPr>
              <a:t>Visual Reinforcement Learning in CarRacing-v3</a:t>
            </a:r>
            <a:endParaRPr lang="en-US" sz="2800" b="1">
              <a:ln w="0"/>
              <a:solidFill>
                <a:srgbClr val="820000"/>
              </a:solidFill>
              <a:cs typeface="Arial"/>
            </a:endParaRP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EA1229F5-145D-157C-5851-2F086615A806}"/>
              </a:ext>
            </a:extLst>
          </p:cNvPr>
          <p:cNvSpPr txBox="1"/>
          <p:nvPr/>
        </p:nvSpPr>
        <p:spPr>
          <a:xfrm>
            <a:off x="1835956" y="163805"/>
            <a:ext cx="12330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solidFill>
                  <a:schemeClr val="tx2"/>
                </a:solidFill>
              </a:rPr>
              <a:t>Context ●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81DD4589-4BCB-1EAC-A110-F8879313829F}"/>
              </a:ext>
            </a:extLst>
          </p:cNvPr>
          <p:cNvSpPr txBox="1"/>
          <p:nvPr/>
        </p:nvSpPr>
        <p:spPr>
          <a:xfrm>
            <a:off x="6308597" y="2369085"/>
            <a:ext cx="7857910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/>
              <a:buChar char="§"/>
            </a:pPr>
            <a:r>
              <a:rPr lang="it-IT" sz="2400" err="1">
                <a:solidFill>
                  <a:prstClr val="black"/>
                </a:solidFill>
                <a:ea typeface="+mn-lt"/>
                <a:cs typeface="+mn-lt"/>
              </a:rPr>
              <a:t>Observation</a:t>
            </a:r>
            <a:endParaRPr lang="en-US" err="1">
              <a:solidFill>
                <a:prstClr val="black"/>
              </a:solidFill>
              <a:ea typeface="+mn-lt"/>
              <a:cs typeface="+mn-lt"/>
            </a:endParaRPr>
          </a:p>
          <a:p>
            <a:r>
              <a:rPr lang="it-IT" sz="2400">
                <a:solidFill>
                  <a:prstClr val="black"/>
                </a:solidFill>
                <a:ea typeface="+mn-lt"/>
                <a:cs typeface="+mn-lt"/>
              </a:rPr>
              <a:t>  96 × 96 × 3 RGB image</a:t>
            </a:r>
            <a:endParaRPr lang="en-US">
              <a:solidFill>
                <a:prstClr val="black"/>
              </a:solidFill>
              <a:cs typeface="Arial"/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37F83E1F-0D4F-E587-97AB-B1933CE7A09A}"/>
              </a:ext>
            </a:extLst>
          </p:cNvPr>
          <p:cNvSpPr txBox="1"/>
          <p:nvPr/>
        </p:nvSpPr>
        <p:spPr>
          <a:xfrm>
            <a:off x="6308597" y="1767753"/>
            <a:ext cx="785791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it-IT" sz="2400">
                <a:solidFill>
                  <a:schemeClr val="tx2"/>
                </a:solidFill>
                <a:latin typeface="Arial" panose="020B0604020202020204"/>
              </a:rPr>
              <a:t>CarRacing-v3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0D274AE8-E81C-6739-FC46-7BFB4F06E9CC}"/>
              </a:ext>
            </a:extLst>
          </p:cNvPr>
          <p:cNvSpPr txBox="1"/>
          <p:nvPr/>
        </p:nvSpPr>
        <p:spPr>
          <a:xfrm>
            <a:off x="6308597" y="3422400"/>
            <a:ext cx="7857910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/>
              <a:buChar char="§"/>
            </a:pPr>
            <a:r>
              <a:rPr lang="it-IT" sz="2400">
                <a:solidFill>
                  <a:prstClr val="black"/>
                </a:solidFill>
                <a:ea typeface="+mn-lt"/>
                <a:cs typeface="+mn-lt"/>
              </a:rPr>
              <a:t>Action</a:t>
            </a:r>
            <a:endParaRPr lang="en-US">
              <a:solidFill>
                <a:prstClr val="black"/>
              </a:solidFill>
              <a:ea typeface="+mn-lt"/>
              <a:cs typeface="+mn-lt"/>
            </a:endParaRPr>
          </a:p>
          <a:p>
            <a:r>
              <a:rPr lang="it-IT" sz="2400">
                <a:solidFill>
                  <a:prstClr val="black"/>
                </a:solidFill>
                <a:ea typeface="+mn-lt"/>
                <a:cs typeface="+mn-lt"/>
              </a:rPr>
              <a:t>  </a:t>
            </a:r>
            <a:r>
              <a:rPr lang="it-IT" sz="2400" err="1">
                <a:solidFill>
                  <a:prstClr val="black"/>
                </a:solidFill>
                <a:ea typeface="+mn-lt"/>
                <a:cs typeface="+mn-lt"/>
              </a:rPr>
              <a:t>Continuous</a:t>
            </a:r>
            <a:r>
              <a:rPr lang="it-IT" sz="2400">
                <a:solidFill>
                  <a:prstClr val="black"/>
                </a:solidFill>
                <a:ea typeface="+mn-lt"/>
                <a:cs typeface="+mn-lt"/>
              </a:rPr>
              <a:t> control: steering, </a:t>
            </a:r>
            <a:r>
              <a:rPr lang="it-IT" sz="2400" err="1">
                <a:solidFill>
                  <a:prstClr val="black"/>
                </a:solidFill>
                <a:ea typeface="+mn-lt"/>
                <a:cs typeface="+mn-lt"/>
              </a:rPr>
              <a:t>throttle</a:t>
            </a:r>
            <a:r>
              <a:rPr lang="it-IT" sz="2400">
                <a:solidFill>
                  <a:prstClr val="black"/>
                </a:solidFill>
                <a:ea typeface="+mn-lt"/>
                <a:cs typeface="+mn-lt"/>
              </a:rPr>
              <a:t>, </a:t>
            </a:r>
            <a:r>
              <a:rPr lang="it-IT" sz="2400" err="1">
                <a:solidFill>
                  <a:prstClr val="black"/>
                </a:solidFill>
                <a:ea typeface="+mn-lt"/>
                <a:cs typeface="+mn-lt"/>
              </a:rPr>
              <a:t>brake</a:t>
            </a:r>
            <a:endParaRPr lang="en-US">
              <a:solidFill>
                <a:prstClr val="black"/>
              </a:solidFill>
              <a:cs typeface="Arial" panose="020B0604020202020204"/>
            </a:endParaRP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938CCCBD-F0FF-5523-89F8-9CD7C3F216D6}"/>
              </a:ext>
            </a:extLst>
          </p:cNvPr>
          <p:cNvSpPr txBox="1"/>
          <p:nvPr/>
        </p:nvSpPr>
        <p:spPr>
          <a:xfrm>
            <a:off x="6308597" y="4486225"/>
            <a:ext cx="7857910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/>
              <a:buChar char="§"/>
            </a:pPr>
            <a:r>
              <a:rPr lang="it-IT" sz="2400">
                <a:solidFill>
                  <a:prstClr val="black"/>
                </a:solidFill>
                <a:ea typeface="+mn-lt"/>
                <a:cs typeface="+mn-lt"/>
              </a:rPr>
              <a:t>Goal</a:t>
            </a:r>
            <a:endParaRPr lang="en-US">
              <a:solidFill>
                <a:prstClr val="black"/>
              </a:solidFill>
              <a:ea typeface="+mn-lt"/>
              <a:cs typeface="+mn-lt"/>
            </a:endParaRPr>
          </a:p>
          <a:p>
            <a:r>
              <a:rPr lang="it-IT" sz="2400">
                <a:solidFill>
                  <a:prstClr val="black"/>
                </a:solidFill>
                <a:ea typeface="+mn-lt"/>
                <a:cs typeface="+mn-lt"/>
              </a:rPr>
              <a:t>  Learn to drive </a:t>
            </a:r>
            <a:r>
              <a:rPr lang="it-IT" sz="2400" err="1">
                <a:solidFill>
                  <a:prstClr val="black"/>
                </a:solidFill>
                <a:ea typeface="+mn-lt"/>
                <a:cs typeface="+mn-lt"/>
              </a:rPr>
              <a:t>directly</a:t>
            </a:r>
            <a:r>
              <a:rPr lang="it-IT" sz="2400">
                <a:solidFill>
                  <a:prstClr val="black"/>
                </a:solidFill>
                <a:ea typeface="+mn-lt"/>
                <a:cs typeface="+mn-lt"/>
              </a:rPr>
              <a:t> from visual </a:t>
            </a:r>
            <a:r>
              <a:rPr lang="it-IT" sz="2400" err="1">
                <a:solidFill>
                  <a:prstClr val="black"/>
                </a:solidFill>
                <a:ea typeface="+mn-lt"/>
                <a:cs typeface="+mn-lt"/>
              </a:rPr>
              <a:t>observations</a:t>
            </a:r>
            <a:endParaRPr lang="en-US" err="1">
              <a:solidFill>
                <a:prstClr val="black"/>
              </a:solidFill>
              <a:ea typeface="+mn-lt"/>
              <a:cs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3F19E7-96CD-A601-A711-70897A683DAC}"/>
              </a:ext>
            </a:extLst>
          </p:cNvPr>
          <p:cNvSpPr txBox="1"/>
          <p:nvPr/>
        </p:nvSpPr>
        <p:spPr>
          <a:xfrm>
            <a:off x="6300821" y="5607400"/>
            <a:ext cx="784715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§"/>
            </a:pPr>
            <a:r>
              <a:rPr lang="en-US" sz="2400">
                <a:ea typeface="+mn-lt"/>
                <a:cs typeface="+mn-lt"/>
              </a:rPr>
              <a:t>The agent receives no explicit information about road position, direction or track boundaries.</a:t>
            </a:r>
            <a:endParaRPr lang="en-US" sz="2400">
              <a:cs typeface="Arial" panose="020B0604020202020204"/>
            </a:endParaRPr>
          </a:p>
        </p:txBody>
      </p:sp>
      <p:pic>
        <p:nvPicPr>
          <p:cNvPr id="6" name="Picture 5" descr="Solving OpenAI Gym CarRacing-v3 with DQN and DDQN - YouTube">
            <a:extLst>
              <a:ext uri="{FF2B5EF4-FFF2-40B4-BE49-F238E27FC236}">
                <a16:creationId xmlns:a16="http://schemas.microsoft.com/office/drawing/2014/main" id="{20A9DF70-D70F-DEFB-F64C-84E5E382AD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036" t="-1533" r="13205" b="286"/>
          <a:stretch>
            <a:fillRect/>
          </a:stretch>
        </p:blipFill>
        <p:spPr>
          <a:xfrm>
            <a:off x="1043135" y="2394799"/>
            <a:ext cx="4819550" cy="372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6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DAD2A-5CE8-279B-79A8-6FEFE80AC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7A86F21A-BBD9-B76B-B216-CA7973C621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6D6F76EB-81A3-06D3-1AC7-7C8B979C093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205743-7E30-D608-6608-47747FF259A1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4B172-48C9-802E-AEBD-A077FB269957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>
                <a:solidFill>
                  <a:prstClr val="white"/>
                </a:solidFill>
                <a:latin typeface="Arial Nova" panose="020F0502020204030204" pitchFamily="34" charset="0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686789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B31A0E-AF5C-970F-0319-6DAA06BEB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0D526B-C606-BAB8-7325-4FA45E550F6A}"/>
              </a:ext>
            </a:extLst>
          </p:cNvPr>
          <p:cNvSpPr/>
          <p:nvPr/>
        </p:nvSpPr>
        <p:spPr>
          <a:xfrm>
            <a:off x="1048811" y="2228561"/>
            <a:ext cx="4034790" cy="403478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A0000"/>
              </a:solidFill>
              <a:cs typeface="Arial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7861BF0-18E7-5760-ABB0-FB2E4DFB802C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497E21E-1A55-C1EA-C7EC-7B7ED54D1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z="1400" smtClean="0"/>
              <a:pPr/>
              <a:t>5</a:t>
            </a:fld>
            <a:r>
              <a:rPr lang="en-US" sz="1400"/>
              <a:t>/23</a:t>
            </a:r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CB61073-7028-DA3D-A5AA-557E1F04715E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1C323C89-84E6-7A86-1C76-C3B7278AA0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DA9B1CB9-F1CD-4082-3A3B-F47A53919F89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ln w="0"/>
                <a:solidFill>
                  <a:schemeClr val="tx2"/>
                </a:solidFill>
              </a:rPr>
              <a:t>Learning Perception and Control Simultaneously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7875F24C-3600-659F-65CE-9FB37D6DF32F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noProof="0">
                <a:solidFill>
                  <a:schemeClr val="tx2"/>
                </a:solidFill>
              </a:rPr>
              <a:t>Problem and Motivation </a:t>
            </a:r>
            <a:r>
              <a:rPr lang="en-GB">
                <a:solidFill>
                  <a:schemeClr val="tx2"/>
                </a:solidFill>
              </a:rPr>
              <a:t>●</a:t>
            </a:r>
            <a:endParaRPr lang="en-GB" noProof="0">
              <a:solidFill>
                <a:schemeClr val="tx2"/>
              </a:solidFill>
            </a:endParaRP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4583A93-743B-66B8-5878-507985774DAD}"/>
              </a:ext>
            </a:extLst>
          </p:cNvPr>
          <p:cNvSpPr txBox="1"/>
          <p:nvPr/>
        </p:nvSpPr>
        <p:spPr>
          <a:xfrm>
            <a:off x="6308597" y="2661273"/>
            <a:ext cx="785791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>
                <a:solidFill>
                  <a:prstClr val="black"/>
                </a:solidFill>
                <a:ea typeface="+mn-lt"/>
                <a:cs typeface="+mn-lt"/>
              </a:rPr>
              <a:t>Visual features are </a:t>
            </a:r>
            <a:r>
              <a:rPr lang="it-IT" sz="2400" err="1">
                <a:solidFill>
                  <a:prstClr val="black"/>
                </a:solidFill>
                <a:ea typeface="+mn-lt"/>
                <a:cs typeface="+mn-lt"/>
              </a:rPr>
              <a:t>learned</a:t>
            </a:r>
            <a:r>
              <a:rPr lang="it-IT" sz="240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it-IT" sz="2400" err="1">
                <a:solidFill>
                  <a:prstClr val="black"/>
                </a:solidFill>
                <a:ea typeface="+mn-lt"/>
                <a:cs typeface="+mn-lt"/>
              </a:rPr>
              <a:t>only</a:t>
            </a:r>
            <a:r>
              <a:rPr lang="it-IT" sz="240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it-IT" sz="2400" err="1">
                <a:solidFill>
                  <a:prstClr val="black"/>
                </a:solidFill>
                <a:ea typeface="+mn-lt"/>
                <a:cs typeface="+mn-lt"/>
              </a:rPr>
              <a:t>through</a:t>
            </a:r>
            <a:r>
              <a:rPr lang="it-IT" sz="240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it-IT" sz="2400" err="1">
                <a:solidFill>
                  <a:prstClr val="black"/>
                </a:solidFill>
                <a:ea typeface="+mn-lt"/>
                <a:cs typeface="+mn-lt"/>
              </a:rPr>
              <a:t>reward</a:t>
            </a:r>
            <a:endParaRPr lang="en-US" err="1">
              <a:solidFill>
                <a:prstClr val="black"/>
              </a:solidFill>
              <a:ea typeface="+mn-lt"/>
              <a:cs typeface="+mn-lt"/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FB25F948-F3EE-59DF-C04B-21C2D6F8BF1B}"/>
              </a:ext>
            </a:extLst>
          </p:cNvPr>
          <p:cNvSpPr txBox="1"/>
          <p:nvPr/>
        </p:nvSpPr>
        <p:spPr>
          <a:xfrm>
            <a:off x="6308597" y="1767753"/>
            <a:ext cx="785791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it-IT" sz="2400" err="1">
                <a:solidFill>
                  <a:schemeClr val="tx2"/>
                </a:solidFill>
                <a:ea typeface="+mn-lt"/>
                <a:cs typeface="+mn-lt"/>
              </a:rPr>
              <a:t>Main</a:t>
            </a:r>
            <a:r>
              <a:rPr lang="it-IT" sz="2400">
                <a:solidFill>
                  <a:schemeClr val="tx2"/>
                </a:solidFill>
                <a:ea typeface="+mn-lt"/>
                <a:cs typeface="+mn-lt"/>
              </a:rPr>
              <a:t> challenges</a:t>
            </a:r>
            <a:endParaRPr lang="en-US">
              <a:solidFill>
                <a:schemeClr val="tx2"/>
              </a:solidFill>
              <a:cs typeface="Arial"/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75558CB1-94D4-7D21-FC9B-BEA7A57BA59B}"/>
              </a:ext>
            </a:extLst>
          </p:cNvPr>
          <p:cNvSpPr txBox="1"/>
          <p:nvPr/>
        </p:nvSpPr>
        <p:spPr>
          <a:xfrm>
            <a:off x="6308597" y="3727725"/>
            <a:ext cx="785791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it-IT" sz="2400" err="1">
                <a:solidFill>
                  <a:prstClr val="black"/>
                </a:solidFill>
                <a:ea typeface="+mn-lt"/>
                <a:cs typeface="+mn-lt"/>
              </a:rPr>
              <a:t>Perception</a:t>
            </a:r>
            <a:r>
              <a:rPr lang="it-IT" sz="2400">
                <a:solidFill>
                  <a:prstClr val="black"/>
                </a:solidFill>
                <a:ea typeface="+mn-lt"/>
                <a:cs typeface="+mn-lt"/>
              </a:rPr>
              <a:t> and control are </a:t>
            </a:r>
            <a:r>
              <a:rPr lang="it-IT" sz="2400" err="1">
                <a:solidFill>
                  <a:prstClr val="black"/>
                </a:solidFill>
                <a:ea typeface="+mn-lt"/>
                <a:cs typeface="+mn-lt"/>
              </a:rPr>
              <a:t>optimized</a:t>
            </a:r>
            <a:r>
              <a:rPr lang="it-IT" sz="240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it-IT" sz="2400" err="1">
                <a:solidFill>
                  <a:prstClr val="black"/>
                </a:solidFill>
                <a:ea typeface="+mn-lt"/>
                <a:cs typeface="+mn-lt"/>
              </a:rPr>
              <a:t>simultaneously</a:t>
            </a:r>
            <a:endParaRPr lang="en-US" err="1">
              <a:cs typeface="Arial"/>
            </a:endParaRP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1AADAF67-1CE7-492C-9654-CFA88165C081}"/>
              </a:ext>
            </a:extLst>
          </p:cNvPr>
          <p:cNvSpPr txBox="1"/>
          <p:nvPr/>
        </p:nvSpPr>
        <p:spPr>
          <a:xfrm>
            <a:off x="6308597" y="4794178"/>
            <a:ext cx="785791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it-IT" sz="2400">
                <a:solidFill>
                  <a:prstClr val="black"/>
                </a:solidFill>
                <a:ea typeface="+mn-lt"/>
                <a:cs typeface="+mn-lt"/>
              </a:rPr>
              <a:t>Training can be sample-intensive and </a:t>
            </a:r>
            <a:r>
              <a:rPr lang="it-IT" sz="2400" err="1">
                <a:solidFill>
                  <a:prstClr val="black"/>
                </a:solidFill>
                <a:ea typeface="+mn-lt"/>
                <a:cs typeface="+mn-lt"/>
              </a:rPr>
              <a:t>unstable</a:t>
            </a:r>
            <a:endParaRPr lang="en-US" err="1">
              <a:solidFill>
                <a:prstClr val="black"/>
              </a:solidFill>
              <a:cs typeface="Arial" panose="020B060402020202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552A9-EC35-5E3A-E3A8-0EAD665A19CF}"/>
              </a:ext>
            </a:extLst>
          </p:cNvPr>
          <p:cNvSpPr txBox="1"/>
          <p:nvPr/>
        </p:nvSpPr>
        <p:spPr>
          <a:xfrm>
            <a:off x="641657" y="1603090"/>
            <a:ext cx="487180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rgbClr val="800000"/>
                </a:solidFill>
                <a:cs typeface="Arial"/>
              </a:rPr>
              <a:t>Raw-pixel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C39DB-534C-189B-38F0-4C2D795B2ADA}"/>
              </a:ext>
            </a:extLst>
          </p:cNvPr>
          <p:cNvSpPr txBox="1"/>
          <p:nvPr/>
        </p:nvSpPr>
        <p:spPr>
          <a:xfrm>
            <a:off x="647175" y="2664240"/>
            <a:ext cx="487771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cs typeface="Arial"/>
              </a:rPr>
              <a:t>RGB observation</a:t>
            </a:r>
            <a:endParaRPr 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84528F-A2D9-CB65-B9D3-04446FBBF4AF}"/>
              </a:ext>
            </a:extLst>
          </p:cNvPr>
          <p:cNvSpPr txBox="1"/>
          <p:nvPr/>
        </p:nvSpPr>
        <p:spPr>
          <a:xfrm>
            <a:off x="648620" y="3650374"/>
            <a:ext cx="487942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cs typeface="Arial"/>
              </a:rPr>
              <a:t>Visual feature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2A33B-0BA4-9F7E-A9AE-748C9E088E2B}"/>
              </a:ext>
            </a:extLst>
          </p:cNvPr>
          <p:cNvSpPr txBox="1"/>
          <p:nvPr/>
        </p:nvSpPr>
        <p:spPr>
          <a:xfrm>
            <a:off x="643628" y="4567007"/>
            <a:ext cx="487824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cs typeface="Arial"/>
              </a:rPr>
              <a:t>Policy learning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9A1D67-E897-5418-6F94-09E2DE8F090B}"/>
              </a:ext>
            </a:extLst>
          </p:cNvPr>
          <p:cNvSpPr txBox="1"/>
          <p:nvPr/>
        </p:nvSpPr>
        <p:spPr>
          <a:xfrm>
            <a:off x="645993" y="5479568"/>
            <a:ext cx="48669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cs typeface="Arial"/>
              </a:rPr>
              <a:t>Continuous action</a:t>
            </a:r>
            <a:endParaRPr lang="en-US" sz="240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7344885D-4DD1-A374-8919-495BDC20E822}"/>
              </a:ext>
            </a:extLst>
          </p:cNvPr>
          <p:cNvSpPr/>
          <p:nvPr/>
        </p:nvSpPr>
        <p:spPr>
          <a:xfrm>
            <a:off x="2956166" y="3234690"/>
            <a:ext cx="125730" cy="3543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D5072CF0-C120-9347-FD20-1DEE415280A6}"/>
              </a:ext>
            </a:extLst>
          </p:cNvPr>
          <p:cNvSpPr/>
          <p:nvPr/>
        </p:nvSpPr>
        <p:spPr>
          <a:xfrm>
            <a:off x="2956165" y="4191131"/>
            <a:ext cx="125730" cy="3543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A5BBCFB-E302-9B10-647E-D1C85F61AA8F}"/>
              </a:ext>
            </a:extLst>
          </p:cNvPr>
          <p:cNvSpPr/>
          <p:nvPr/>
        </p:nvSpPr>
        <p:spPr>
          <a:xfrm>
            <a:off x="2956165" y="5137062"/>
            <a:ext cx="125730" cy="3543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6006D9-6B08-15CB-A087-DC6BC4544EB9}"/>
              </a:ext>
            </a:extLst>
          </p:cNvPr>
          <p:cNvSpPr txBox="1"/>
          <p:nvPr/>
        </p:nvSpPr>
        <p:spPr>
          <a:xfrm>
            <a:off x="6309360" y="5806440"/>
            <a:ext cx="785241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§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Can a pretrained visual representation simplify policy learning?</a:t>
            </a:r>
            <a:endParaRPr lang="en-US" sz="2400"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7596DD-2B7F-8730-4913-47F5CB39EE80}"/>
              </a:ext>
            </a:extLst>
          </p:cNvPr>
          <p:cNvSpPr txBox="1"/>
          <p:nvPr/>
        </p:nvSpPr>
        <p:spPr>
          <a:xfrm>
            <a:off x="845820" y="6709410"/>
            <a:ext cx="4480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ea typeface="+mn-lt"/>
                <a:cs typeface="+mn-lt"/>
              </a:rPr>
              <a:t>27,648 pixel</a:t>
            </a:r>
            <a:r>
              <a:rPr lang="en-US">
                <a:ea typeface="+mn-lt"/>
                <a:cs typeface="+mn-lt"/>
              </a:rPr>
              <a:t> values  →  3 control values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4649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1C51FB-3113-BF04-CE67-AFC24EFA7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4F88C3C1-B306-91E6-6E51-74137EB887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BD239DCC-C9D5-BA3F-3F2D-C0C8059126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697087-8038-56D0-36E4-AB28787D42CC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F90361-59E1-3D9A-A6C3-0BF6A916C828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indent="-411480" defTabSz="1097280">
              <a:lnSpc>
                <a:spcPct val="150000"/>
              </a:lnSpc>
              <a:buFont typeface="Arial Nova" panose="020B0504020202020204" pitchFamily="34" charset="0"/>
              <a:buChar char="›"/>
            </a:pPr>
            <a:r>
              <a:rPr lang="en-GB" sz="288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>
                <a:solidFill>
                  <a:prstClr val="white"/>
                </a:solidFill>
                <a:latin typeface="Arial Nova" panose="020F0502020204030204" pitchFamily="34" charset="0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872221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11206A-15C0-AF4D-DCCF-F1A7620AC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EAAB4F86-756F-6FCA-CE1D-E800AC349199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F88DDD4-878D-BF6E-1158-B6855AA4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z="1400" smtClean="0"/>
              <a:pPr/>
              <a:t>7</a:t>
            </a:fld>
            <a:r>
              <a:rPr lang="en-US" sz="1400"/>
              <a:t>/23</a:t>
            </a:r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94087E6-89CB-9397-385E-5EB69E5F53FE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FFDD7C91-D1DF-AF5D-D4D6-238572C8A7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6B330B5F-52CE-702F-028B-0E28D8A38A74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ln w="0"/>
                <a:solidFill>
                  <a:schemeClr val="tx2"/>
                </a:solidFill>
              </a:rPr>
              <a:t>Related Work and Gap: Learning Control from Pixels</a:t>
            </a:r>
            <a:endParaRPr lang="en-US">
              <a:solidFill>
                <a:schemeClr val="tx2"/>
              </a:solidFill>
              <a:cs typeface="Arial" panose="020B0604020202020204"/>
            </a:endParaRP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360A5303-2E71-90B6-B184-A4D97EB59578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Related Work and Gap with Respect to the State of the Art </a:t>
            </a:r>
            <a:r>
              <a:rPr lang="en-GB">
                <a:solidFill>
                  <a:schemeClr val="tx2"/>
                </a:solidFill>
              </a:rPr>
              <a:t>●</a:t>
            </a:r>
            <a:endParaRPr lang="en-GB" noProof="0">
              <a:solidFill>
                <a:schemeClr val="tx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8D3A62-8823-ED45-19BE-687F615E3C33}"/>
              </a:ext>
            </a:extLst>
          </p:cNvPr>
          <p:cNvSpPr txBox="1"/>
          <p:nvPr/>
        </p:nvSpPr>
        <p:spPr>
          <a:xfrm>
            <a:off x="1337310" y="6252210"/>
            <a:ext cx="119557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ea typeface="+mn-lt"/>
                <a:cs typeface="+mn-lt"/>
              </a:rPr>
              <a:t>Mnih et al., 2015 · Kostrikov et al., 2021</a:t>
            </a:r>
            <a:r>
              <a:rPr lang="en-US" dirty="0">
                <a:latin typeface="Arial"/>
                <a:ea typeface="+mn-lt"/>
                <a:cs typeface="+mn-lt"/>
              </a:rPr>
              <a:t> (</a:t>
            </a:r>
            <a:r>
              <a:rPr lang="en-US" dirty="0" err="1">
                <a:latin typeface="Arial"/>
                <a:ea typeface="+mn-lt"/>
                <a:cs typeface="+mn-lt"/>
              </a:rPr>
              <a:t>DrQ</a:t>
            </a:r>
            <a:r>
              <a:rPr lang="en-US" dirty="0">
                <a:latin typeface="Arial"/>
                <a:ea typeface="+mn-lt"/>
                <a:cs typeface="+mn-lt"/>
              </a:rPr>
              <a:t>) · </a:t>
            </a:r>
            <a:r>
              <a:rPr lang="en-US" dirty="0" err="1">
                <a:ea typeface="+mn-lt"/>
                <a:cs typeface="+mn-lt"/>
              </a:rPr>
              <a:t>Yarats</a:t>
            </a:r>
            <a:r>
              <a:rPr lang="en-US" dirty="0">
                <a:ea typeface="+mn-lt"/>
                <a:cs typeface="+mn-lt"/>
              </a:rPr>
              <a:t> et al., 2021 (SAC+AE) · Laskin et al., 2020 (CURL)</a:t>
            </a:r>
            <a:endParaRPr lang="en-US" dirty="0">
              <a:cs typeface="Arial" panose="020B0604020202020204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6C12DA-40C3-8189-8D33-65080A6D0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896338"/>
              </p:ext>
            </p:extLst>
          </p:nvPr>
        </p:nvGraphicFramePr>
        <p:xfrm>
          <a:off x="1337310" y="1417320"/>
          <a:ext cx="11955804" cy="4513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5268">
                  <a:extLst>
                    <a:ext uri="{9D8B030D-6E8A-4147-A177-3AD203B41FA5}">
                      <a16:colId xmlns:a16="http://schemas.microsoft.com/office/drawing/2014/main" val="2537620569"/>
                    </a:ext>
                  </a:extLst>
                </a:gridCol>
                <a:gridCol w="3985268">
                  <a:extLst>
                    <a:ext uri="{9D8B030D-6E8A-4147-A177-3AD203B41FA5}">
                      <a16:colId xmlns:a16="http://schemas.microsoft.com/office/drawing/2014/main" val="3234765500"/>
                    </a:ext>
                  </a:extLst>
                </a:gridCol>
                <a:gridCol w="3985268">
                  <a:extLst>
                    <a:ext uri="{9D8B030D-6E8A-4147-A177-3AD203B41FA5}">
                      <a16:colId xmlns:a16="http://schemas.microsoft.com/office/drawing/2014/main" val="975454995"/>
                    </a:ext>
                  </a:extLst>
                </a:gridCol>
              </a:tblGrid>
              <a:tr h="7509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Main Idea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/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6803612"/>
                  </a:ext>
                </a:extLst>
              </a:tr>
              <a:tr h="930781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End-to-end Deep RL</a:t>
                      </a:r>
                      <a:r>
                        <a:rPr lang="en-US" sz="2000" b="0" i="0" u="none" strike="noStrik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 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DQN, PPO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 CNN learns visual features directly from the reward signal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Perception and control are learned simultaneously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340124"/>
                  </a:ext>
                </a:extLst>
              </a:tr>
              <a:tr h="1353860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</a:rPr>
                        <a:t>Auxiliary Reconstruction During RL</a:t>
                      </a:r>
                      <a:r>
                        <a:rPr lang="en-US" sz="2000" b="0" i="0" u="none" strike="noStrik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 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SAC+AE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Reconstruction loss helps the encoder learn compact visual features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Representation and policy are still trained jointly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378843"/>
                  </a:ext>
                </a:extLst>
              </a:tr>
              <a:tr h="1353860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Contrastive / Augmented RL</a:t>
                      </a:r>
                      <a:r>
                        <a:rPr lang="en-US" sz="2000" b="0" i="0" u="none" strike="noStrik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 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CURL, </a:t>
                      </a:r>
                      <a:r>
                        <a:rPr lang="en-US" sz="20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DrQ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Contrastive learning or image augmentation improves visual representations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More specialized objectives and training strategies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29066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C14D00B-088F-17F8-A66B-E0F208396954}"/>
              </a:ext>
            </a:extLst>
          </p:cNvPr>
          <p:cNvSpPr txBox="1"/>
          <p:nvPr/>
        </p:nvSpPr>
        <p:spPr>
          <a:xfrm>
            <a:off x="1337310" y="6903720"/>
            <a:ext cx="1195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ctr">
              <a:buFont typeface="Wingdings"/>
              <a:buChar char="§"/>
            </a:pPr>
            <a:r>
              <a:rPr lang="en-US" sz="2400">
                <a:ea typeface="+mn-lt"/>
                <a:cs typeface="+mn-lt"/>
              </a:rPr>
              <a:t>Limited evaluation of frozen autoencoder representations</a:t>
            </a:r>
            <a:endParaRPr lang="en-US" sz="24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4706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E0AB4-E197-DB9F-F15E-1F42FEE64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16A5E0A8-F1A7-91EC-4F86-809EF15117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2580192E-BFB5-DF3E-0265-DAE74C27D54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6B7405-B9E5-DBA0-3EE5-A250DCAEE23E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B52DB3-93F8-A26A-08B8-6A1D5C508E88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>
                <a:solidFill>
                  <a:prstClr val="white"/>
                </a:solidFill>
                <a:latin typeface="Arial Nova" panose="020F0502020204030204" pitchFamily="34" charset="0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782460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835FF-F95B-44EC-293E-448D452FD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E1308CC8-6AE8-15E2-7EF6-C5944991785F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47891DB-57BA-BDFD-D47A-57FCC14DA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z="1400" smtClean="0"/>
              <a:pPr/>
              <a:t>9</a:t>
            </a:fld>
            <a:r>
              <a:rPr lang="en-US" sz="1400"/>
              <a:t>/23</a:t>
            </a:r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85E1595-A9E9-54B2-6AC3-C52620A101C8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DB1210D5-A09A-15C5-DF89-C726674B84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30D26CA6-A341-9D79-E88F-F57437EA23B0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ln w="0"/>
                <a:solidFill>
                  <a:schemeClr val="tx2"/>
                </a:solidFill>
              </a:rPr>
              <a:t>Offline Visual Pretraining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5C5E3A8F-0B2B-D1C9-CC1F-C3955779D976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Proposed Solution and Our Contribution </a:t>
            </a:r>
            <a:r>
              <a:rPr lang="en-GB">
                <a:solidFill>
                  <a:schemeClr val="tx2"/>
                </a:solidFill>
              </a:rPr>
              <a:t>●○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5A14DC0-3CEF-2AC0-EA00-E35B634369DA}"/>
              </a:ext>
            </a:extLst>
          </p:cNvPr>
          <p:cNvSpPr/>
          <p:nvPr/>
        </p:nvSpPr>
        <p:spPr>
          <a:xfrm>
            <a:off x="605790" y="2103119"/>
            <a:ext cx="1680210" cy="25831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B0A05E-2AEB-61FE-4B28-F2FA7DF6B812}"/>
              </a:ext>
            </a:extLst>
          </p:cNvPr>
          <p:cNvSpPr/>
          <p:nvPr/>
        </p:nvSpPr>
        <p:spPr>
          <a:xfrm>
            <a:off x="2903220" y="2103118"/>
            <a:ext cx="1680210" cy="25831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ED21F22-0F71-17F0-354C-0737C3089D8B}"/>
              </a:ext>
            </a:extLst>
          </p:cNvPr>
          <p:cNvSpPr/>
          <p:nvPr/>
        </p:nvSpPr>
        <p:spPr>
          <a:xfrm>
            <a:off x="7498080" y="2103118"/>
            <a:ext cx="1680210" cy="25831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4048E3C-6466-2A99-6CB0-505E7C1DA74C}"/>
              </a:ext>
            </a:extLst>
          </p:cNvPr>
          <p:cNvSpPr/>
          <p:nvPr/>
        </p:nvSpPr>
        <p:spPr>
          <a:xfrm>
            <a:off x="5200650" y="2103118"/>
            <a:ext cx="1680210" cy="25831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C0B9F72-7FB7-D08E-DF31-F32803D61524}"/>
              </a:ext>
            </a:extLst>
          </p:cNvPr>
          <p:cNvSpPr/>
          <p:nvPr/>
        </p:nvSpPr>
        <p:spPr>
          <a:xfrm>
            <a:off x="12184379" y="2103118"/>
            <a:ext cx="1680210" cy="25831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4A3AD01-49C7-B3DF-3FFC-37B19CC66603}"/>
              </a:ext>
            </a:extLst>
          </p:cNvPr>
          <p:cNvSpPr/>
          <p:nvPr/>
        </p:nvSpPr>
        <p:spPr>
          <a:xfrm>
            <a:off x="9841230" y="2103118"/>
            <a:ext cx="1680210" cy="25831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9406CE9-4C3C-BEE3-CDA5-8B8003613E3C}"/>
              </a:ext>
            </a:extLst>
          </p:cNvPr>
          <p:cNvSpPr/>
          <p:nvPr/>
        </p:nvSpPr>
        <p:spPr>
          <a:xfrm>
            <a:off x="2411730" y="3268980"/>
            <a:ext cx="365759" cy="2400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C841AA5-F7D2-68F5-64DD-EBADB6425487}"/>
              </a:ext>
            </a:extLst>
          </p:cNvPr>
          <p:cNvSpPr/>
          <p:nvPr/>
        </p:nvSpPr>
        <p:spPr>
          <a:xfrm>
            <a:off x="4709160" y="3268980"/>
            <a:ext cx="365759" cy="2400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D2D5DCCB-D53F-04A4-B01B-B39B4ED773DE}"/>
              </a:ext>
            </a:extLst>
          </p:cNvPr>
          <p:cNvSpPr/>
          <p:nvPr/>
        </p:nvSpPr>
        <p:spPr>
          <a:xfrm>
            <a:off x="7029450" y="3268980"/>
            <a:ext cx="365759" cy="2400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981A409-F881-4BB6-3A09-224AC4F423F4}"/>
              </a:ext>
            </a:extLst>
          </p:cNvPr>
          <p:cNvSpPr/>
          <p:nvPr/>
        </p:nvSpPr>
        <p:spPr>
          <a:xfrm>
            <a:off x="9326880" y="3268980"/>
            <a:ext cx="365759" cy="2400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EC03627-7FA2-21E5-AA1F-296DC326CDFA}"/>
              </a:ext>
            </a:extLst>
          </p:cNvPr>
          <p:cNvSpPr/>
          <p:nvPr/>
        </p:nvSpPr>
        <p:spPr>
          <a:xfrm>
            <a:off x="11670030" y="3268980"/>
            <a:ext cx="365759" cy="2400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B3441F-1BB3-EAF6-2F6C-8DEEBDA410C7}"/>
              </a:ext>
            </a:extLst>
          </p:cNvPr>
          <p:cNvSpPr txBox="1"/>
          <p:nvPr/>
        </p:nvSpPr>
        <p:spPr>
          <a:xfrm>
            <a:off x="731520" y="2240280"/>
            <a:ext cx="1405890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b="1">
                <a:cs typeface="Arial"/>
              </a:rPr>
              <a:t>1. Environment</a:t>
            </a:r>
            <a:endParaRPr lang="en-US">
              <a:cs typeface="Arial" panose="020B060402020202020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D8FB13-1A8F-2C08-86D3-9B323EA9E354}"/>
              </a:ext>
            </a:extLst>
          </p:cNvPr>
          <p:cNvSpPr txBox="1"/>
          <p:nvPr/>
        </p:nvSpPr>
        <p:spPr>
          <a:xfrm>
            <a:off x="605790" y="2971800"/>
            <a:ext cx="1680210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>
                <a:cs typeface="Arial"/>
              </a:rPr>
              <a:t>CarRacing-v3</a:t>
            </a:r>
            <a:endParaRPr lang="en-US" sz="1300" dirty="0">
              <a:cs typeface="Arial"/>
            </a:endParaRPr>
          </a:p>
          <a:p>
            <a:pPr algn="ctr"/>
            <a:endParaRPr lang="en-US" sz="1300" dirty="0">
              <a:cs typeface="Arial"/>
            </a:endParaRPr>
          </a:p>
          <a:p>
            <a:pPr algn="ctr"/>
            <a:r>
              <a:rPr lang="en-US" sz="1300">
                <a:cs typeface="Arial"/>
              </a:rPr>
              <a:t>RGB observations</a:t>
            </a:r>
            <a:endParaRPr lang="en-US" sz="1300" dirty="0">
              <a:cs typeface="Arial"/>
            </a:endParaRPr>
          </a:p>
          <a:p>
            <a:pPr algn="ctr"/>
            <a:r>
              <a:rPr lang="en-US" sz="1300">
                <a:cs typeface="Arial"/>
              </a:rPr>
              <a:t>Continuous actions</a:t>
            </a:r>
            <a:endParaRPr lang="en-US" sz="1300" dirty="0"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CFF21B-D776-A9E3-8A46-FF2869A0E1CB}"/>
              </a:ext>
            </a:extLst>
          </p:cNvPr>
          <p:cNvSpPr txBox="1"/>
          <p:nvPr/>
        </p:nvSpPr>
        <p:spPr>
          <a:xfrm>
            <a:off x="2777490" y="2240280"/>
            <a:ext cx="1931670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b="1">
                <a:cs typeface="Arial"/>
              </a:rPr>
              <a:t>2. Frame Collection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AE77C4-B5D1-8CC3-29C3-F5BCECF0716B}"/>
              </a:ext>
            </a:extLst>
          </p:cNvPr>
          <p:cNvSpPr txBox="1"/>
          <p:nvPr/>
        </p:nvSpPr>
        <p:spPr>
          <a:xfrm>
            <a:off x="2903220" y="2971800"/>
            <a:ext cx="1680210" cy="10926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>
                <a:cs typeface="Arial"/>
              </a:rPr>
              <a:t>18,293 RGB frames</a:t>
            </a:r>
            <a:endParaRPr lang="en-US" sz="1300" dirty="0">
              <a:cs typeface="Arial"/>
            </a:endParaRPr>
          </a:p>
          <a:p>
            <a:pPr algn="ctr"/>
            <a:endParaRPr lang="en-US" sz="1300" dirty="0">
              <a:cs typeface="Arial"/>
            </a:endParaRPr>
          </a:p>
          <a:p>
            <a:pPr algn="ctr"/>
            <a:r>
              <a:rPr lang="en-US" sz="1300">
                <a:cs typeface="Arial"/>
              </a:rPr>
              <a:t>Sampled (random intervals) during </a:t>
            </a:r>
            <a:r>
              <a:rPr lang="en-US" sz="1300" dirty="0">
                <a:cs typeface="Arial"/>
              </a:rPr>
              <a:t>policy interaction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519D03-DF4A-2AFB-1BAD-834620B5D170}"/>
              </a:ext>
            </a:extLst>
          </p:cNvPr>
          <p:cNvSpPr txBox="1"/>
          <p:nvPr/>
        </p:nvSpPr>
        <p:spPr>
          <a:xfrm>
            <a:off x="5360670" y="2240280"/>
            <a:ext cx="1405890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b="1">
                <a:cs typeface="Arial"/>
              </a:rPr>
              <a:t>3. Autoencoder</a:t>
            </a: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C9AB64-718F-5950-123A-43F7B5D9A24C}"/>
              </a:ext>
            </a:extLst>
          </p:cNvPr>
          <p:cNvSpPr txBox="1"/>
          <p:nvPr/>
        </p:nvSpPr>
        <p:spPr>
          <a:xfrm>
            <a:off x="5223510" y="2971800"/>
            <a:ext cx="1680210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>
                <a:cs typeface="Arial"/>
              </a:rPr>
              <a:t>CNN Encoder</a:t>
            </a:r>
          </a:p>
          <a:p>
            <a:pPr algn="ctr"/>
            <a:r>
              <a:rPr lang="en-US" sz="1300">
                <a:cs typeface="Arial"/>
              </a:rPr>
              <a:t>+</a:t>
            </a:r>
            <a:endParaRPr lang="en-US" sz="1300" dirty="0">
              <a:cs typeface="Arial"/>
            </a:endParaRPr>
          </a:p>
          <a:p>
            <a:pPr algn="ctr"/>
            <a:r>
              <a:rPr lang="en-US" sz="1300">
                <a:cs typeface="Arial"/>
              </a:rPr>
              <a:t>CNN Decoder</a:t>
            </a:r>
          </a:p>
          <a:p>
            <a:pPr algn="ctr"/>
            <a:endParaRPr lang="en-US" sz="1300" dirty="0">
              <a:cs typeface="Arial"/>
            </a:endParaRPr>
          </a:p>
          <a:p>
            <a:pPr algn="ctr"/>
            <a:r>
              <a:rPr lang="en-US" sz="1300">
                <a:ea typeface="+mn-lt"/>
                <a:cs typeface="+mn-lt"/>
              </a:rPr>
              <a:t>MSE reconstruction loss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B8EF18-CA4E-04E4-F95E-FAC3E79BD7A5}"/>
              </a:ext>
            </a:extLst>
          </p:cNvPr>
          <p:cNvSpPr txBox="1"/>
          <p:nvPr/>
        </p:nvSpPr>
        <p:spPr>
          <a:xfrm>
            <a:off x="7498079" y="2240280"/>
            <a:ext cx="1680210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b="1" dirty="0">
                <a:cs typeface="Arial"/>
              </a:rPr>
              <a:t>4. Represe</a:t>
            </a:r>
            <a:r>
              <a:rPr lang="en-US" sz="1300" b="1"/>
              <a:t>ntation</a:t>
            </a:r>
            <a:r>
              <a:rPr lang="en-US" sz="1300" b="1" dirty="0">
                <a:cs typeface="Arial"/>
              </a:rPr>
              <a:t> 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35F75D-610A-57B2-B759-E2B5B18D7E3C}"/>
              </a:ext>
            </a:extLst>
          </p:cNvPr>
          <p:cNvSpPr txBox="1"/>
          <p:nvPr/>
        </p:nvSpPr>
        <p:spPr>
          <a:xfrm>
            <a:off x="7498080" y="2971800"/>
            <a:ext cx="1680210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err="1">
                <a:cs typeface="Arial"/>
              </a:rPr>
              <a:t>Fro</a:t>
            </a:r>
            <a:r>
              <a:rPr lang="en-US" sz="1300">
                <a:cs typeface="Arial"/>
              </a:rPr>
              <a:t>zen Encoder</a:t>
            </a:r>
            <a:endParaRPr lang="en-US">
              <a:cs typeface="Arial"/>
            </a:endParaRPr>
          </a:p>
          <a:p>
            <a:pPr algn="ctr"/>
            <a:endParaRPr lang="en-US" sz="1300" dirty="0">
              <a:cs typeface="Arial"/>
            </a:endParaRPr>
          </a:p>
          <a:p>
            <a:pPr algn="ctr"/>
            <a:r>
              <a:rPr lang="en-US" sz="1300">
                <a:cs typeface="Arial"/>
              </a:rPr>
              <a:t>96x96x3 -&gt;</a:t>
            </a:r>
          </a:p>
          <a:p>
            <a:pPr algn="ctr"/>
            <a:r>
              <a:rPr lang="en-US" sz="1300">
                <a:cs typeface="Arial"/>
              </a:rPr>
              <a:t>Latent vector 128</a:t>
            </a:r>
            <a:endParaRPr lang="en-US" sz="1300" dirty="0">
              <a:cs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0A21B8-2006-4AE5-9A52-206F8E4EBD4F}"/>
              </a:ext>
            </a:extLst>
          </p:cNvPr>
          <p:cNvSpPr txBox="1"/>
          <p:nvPr/>
        </p:nvSpPr>
        <p:spPr>
          <a:xfrm>
            <a:off x="9864088" y="2240280"/>
            <a:ext cx="1680210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b="1">
                <a:cs typeface="Arial"/>
              </a:rPr>
              <a:t>5. PPO Policy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5DED71-0711-88E4-AA5A-E917F472EBC6}"/>
              </a:ext>
            </a:extLst>
          </p:cNvPr>
          <p:cNvSpPr txBox="1"/>
          <p:nvPr/>
        </p:nvSpPr>
        <p:spPr>
          <a:xfrm>
            <a:off x="9864089" y="2971800"/>
            <a:ext cx="1680210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err="1">
                <a:cs typeface="Arial"/>
              </a:rPr>
              <a:t>MlpPolicy</a:t>
            </a:r>
          </a:p>
          <a:p>
            <a:pPr algn="ctr"/>
            <a:endParaRPr lang="en-US" sz="1300" dirty="0">
              <a:cs typeface="Arial"/>
            </a:endParaRPr>
          </a:p>
          <a:p>
            <a:pPr algn="ctr"/>
            <a:r>
              <a:rPr lang="en-US" sz="1300">
                <a:cs typeface="Arial"/>
              </a:rPr>
              <a:t>Latent vector -&gt;</a:t>
            </a:r>
          </a:p>
          <a:p>
            <a:pPr algn="ctr"/>
            <a:r>
              <a:rPr lang="en-US" sz="1300">
                <a:cs typeface="Arial"/>
              </a:rPr>
              <a:t>Continuous action</a:t>
            </a:r>
            <a:endParaRPr lang="en-US" sz="1300" dirty="0">
              <a:cs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43A652-660F-C869-36BD-4FD9203C2B2F}"/>
              </a:ext>
            </a:extLst>
          </p:cNvPr>
          <p:cNvSpPr txBox="1"/>
          <p:nvPr/>
        </p:nvSpPr>
        <p:spPr>
          <a:xfrm>
            <a:off x="12184378" y="2240280"/>
            <a:ext cx="1680210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b="1">
                <a:cs typeface="Arial"/>
              </a:rPr>
              <a:t>6. Evaluation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B489EC-9AF6-D107-EFFF-2574FA75A313}"/>
              </a:ext>
            </a:extLst>
          </p:cNvPr>
          <p:cNvSpPr txBox="1"/>
          <p:nvPr/>
        </p:nvSpPr>
        <p:spPr>
          <a:xfrm>
            <a:off x="12184378" y="2971800"/>
            <a:ext cx="1680210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>
                <a:cs typeface="Arial"/>
              </a:rPr>
              <a:t>Mean reward</a:t>
            </a:r>
            <a:endParaRPr lang="en-US">
              <a:cs typeface="Arial"/>
            </a:endParaRPr>
          </a:p>
          <a:p>
            <a:pPr algn="ctr"/>
            <a:r>
              <a:rPr lang="en-US" sz="1300">
                <a:cs typeface="Arial"/>
              </a:rPr>
              <a:t>Final reward</a:t>
            </a:r>
            <a:endParaRPr lang="en-US" sz="1300" dirty="0">
              <a:cs typeface="Arial"/>
            </a:endParaRPr>
          </a:p>
          <a:p>
            <a:pPr algn="ctr"/>
            <a:r>
              <a:rPr lang="en-US" sz="1300">
                <a:cs typeface="Arial"/>
              </a:rPr>
              <a:t>Learning curve</a:t>
            </a:r>
            <a:endParaRPr lang="en-US" sz="1300" dirty="0">
              <a:cs typeface="Arial"/>
            </a:endParaRPr>
          </a:p>
          <a:p>
            <a:pPr algn="ctr"/>
            <a:r>
              <a:rPr lang="en-US" sz="1300">
                <a:cs typeface="Arial"/>
              </a:rPr>
              <a:t>Stability</a:t>
            </a:r>
            <a:endParaRPr lang="en-US" sz="1300" dirty="0">
              <a:cs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DDFF6F-9DBD-2C2A-4067-2A6BAB8E4281}"/>
              </a:ext>
            </a:extLst>
          </p:cNvPr>
          <p:cNvSpPr txBox="1"/>
          <p:nvPr/>
        </p:nvSpPr>
        <p:spPr>
          <a:xfrm>
            <a:off x="606462" y="5674658"/>
            <a:ext cx="627641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ea typeface="+mn-lt"/>
                <a:cs typeface="+mn-lt"/>
              </a:rPr>
              <a:t>Phase 1: Representation learning</a:t>
            </a:r>
            <a:endParaRPr lang="en-US" sz="2400" dirty="0">
              <a:cs typeface="Arial"/>
            </a:endParaRPr>
          </a:p>
          <a:p>
            <a:pPr algn="ctr"/>
            <a:r>
              <a:rPr lang="en-US" sz="2400">
                <a:ea typeface="+mn-lt"/>
                <a:cs typeface="+mn-lt"/>
              </a:rPr>
              <a:t>• Reconstruction objective</a:t>
            </a:r>
            <a:endParaRPr lang="en-US" sz="2400" dirty="0">
              <a:ea typeface="+mn-lt"/>
              <a:cs typeface="+mn-lt"/>
            </a:endParaRPr>
          </a:p>
          <a:p>
            <a:pPr algn="ctr"/>
            <a:r>
              <a:rPr lang="en-US" sz="2400">
                <a:ea typeface="+mn-lt"/>
                <a:cs typeface="+mn-lt"/>
              </a:rPr>
              <a:t>• No reward signal</a:t>
            </a:r>
            <a:endParaRPr lang="en-US" sz="2400">
              <a:cs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97023C-C1DB-2B05-18CF-A74AFEDD74EE}"/>
              </a:ext>
            </a:extLst>
          </p:cNvPr>
          <p:cNvSpPr txBox="1"/>
          <p:nvPr/>
        </p:nvSpPr>
        <p:spPr>
          <a:xfrm>
            <a:off x="7521611" y="5674658"/>
            <a:ext cx="636785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ea typeface="+mn-lt"/>
                <a:cs typeface="+mn-lt"/>
              </a:rPr>
              <a:t>Phase 2: Policy learning</a:t>
            </a:r>
            <a:endParaRPr lang="en-US" sz="2400" dirty="0">
              <a:cs typeface="Arial"/>
            </a:endParaRPr>
          </a:p>
          <a:p>
            <a:pPr algn="ctr"/>
            <a:r>
              <a:rPr lang="en-US" sz="2400">
                <a:ea typeface="+mn-lt"/>
                <a:cs typeface="+mn-lt"/>
              </a:rPr>
              <a:t>• Frozen encoder</a:t>
            </a:r>
            <a:endParaRPr lang="en-US" sz="2400" dirty="0">
              <a:cs typeface="Arial"/>
            </a:endParaRPr>
          </a:p>
          <a:p>
            <a:pPr algn="ctr"/>
            <a:r>
              <a:rPr lang="en-US" sz="2400">
                <a:ea typeface="+mn-lt"/>
                <a:cs typeface="+mn-lt"/>
              </a:rPr>
              <a:t>• PPO trained only on latent vectors</a:t>
            </a:r>
            <a:endParaRPr lang="en-US" sz="2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4034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0B1661-065D-B249-88F7-E8E3E321E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B68AC669-C514-BD75-85A3-13E0B842BD3A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C4EEAA4-E11E-2298-7C6A-330FD6119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z="1400" smtClean="0"/>
              <a:pPr/>
              <a:t>10</a:t>
            </a:fld>
            <a:r>
              <a:rPr lang="en-US" sz="1400"/>
              <a:t>/23</a:t>
            </a:r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4AB887D-3BCA-15AA-9C40-D94182E12D92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E5B4604F-6183-0028-8481-CB48A9AFD5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F200EF3D-A4E4-9E48-09DF-F19F26A526AB}"/>
              </a:ext>
            </a:extLst>
          </p:cNvPr>
          <p:cNvSpPr txBox="1"/>
          <p:nvPr/>
        </p:nvSpPr>
        <p:spPr>
          <a:xfrm>
            <a:off x="1835956" y="563024"/>
            <a:ext cx="12330551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ln w="0"/>
                <a:solidFill>
                  <a:schemeClr val="tx2"/>
                </a:solidFill>
              </a:rPr>
              <a:t>Offline Visual Pretraining</a:t>
            </a:r>
            <a:endParaRPr lang="en-US" sz="2800">
              <a:ln w="0"/>
              <a:solidFill>
                <a:schemeClr val="tx2"/>
              </a:solidFill>
              <a:cs typeface="Arial"/>
            </a:endParaRPr>
          </a:p>
          <a:p>
            <a:endParaRPr lang="en-US" sz="2800" b="1" dirty="0">
              <a:ln w="0"/>
              <a:solidFill>
                <a:schemeClr val="tx2"/>
              </a:solidFill>
              <a:cs typeface="Arial"/>
            </a:endParaRP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55E321CF-F69A-8E66-725E-928E4BB3380C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Proposed Solution and Our Contribution </a:t>
            </a:r>
            <a:r>
              <a:rPr lang="en-GB">
                <a:solidFill>
                  <a:schemeClr val="tx2"/>
                </a:solidFill>
              </a:rPr>
              <a:t>○●</a:t>
            </a:r>
            <a:endParaRPr lang="en-GB" noProof="0">
              <a:solidFill>
                <a:schemeClr val="tx2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519022C-CFA8-D7DA-8D8F-216E3ACC242B}"/>
              </a:ext>
            </a:extLst>
          </p:cNvPr>
          <p:cNvSpPr txBox="1"/>
          <p:nvPr/>
        </p:nvSpPr>
        <p:spPr>
          <a:xfrm>
            <a:off x="462533" y="2463679"/>
            <a:ext cx="13700926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it-IT" sz="2400" b="1" dirty="0"/>
              <a:t>Complete Pipeline: </a:t>
            </a:r>
            <a:r>
              <a:rPr lang="it-IT" sz="2400" dirty="0">
                <a:ea typeface="+mn-lt"/>
                <a:cs typeface="+mn-lt"/>
              </a:rPr>
              <a:t>Frame </a:t>
            </a:r>
            <a:r>
              <a:rPr lang="it-IT" sz="2400" dirty="0" err="1">
                <a:ea typeface="+mn-lt"/>
                <a:cs typeface="+mn-lt"/>
              </a:rPr>
              <a:t>collection</a:t>
            </a:r>
            <a:r>
              <a:rPr lang="it-IT" sz="2400" dirty="0">
                <a:ea typeface="+mn-lt"/>
                <a:cs typeface="+mn-lt"/>
              </a:rPr>
              <a:t>, </a:t>
            </a:r>
            <a:r>
              <a:rPr lang="it-IT" sz="2400" dirty="0" err="1">
                <a:ea typeface="+mn-lt"/>
                <a:cs typeface="+mn-lt"/>
              </a:rPr>
              <a:t>autoencoder</a:t>
            </a:r>
            <a:r>
              <a:rPr lang="it-IT" sz="2400" dirty="0">
                <a:ea typeface="+mn-lt"/>
                <a:cs typeface="+mn-lt"/>
              </a:rPr>
              <a:t> training, </a:t>
            </a:r>
            <a:r>
              <a:rPr lang="it-IT" sz="2400" dirty="0" err="1">
                <a:ea typeface="+mn-lt"/>
                <a:cs typeface="+mn-lt"/>
              </a:rPr>
              <a:t>latent</a:t>
            </a:r>
            <a:r>
              <a:rPr lang="it-IT" sz="2400" dirty="0">
                <a:ea typeface="+mn-lt"/>
                <a:cs typeface="+mn-lt"/>
              </a:rPr>
              <a:t> </a:t>
            </a:r>
            <a:r>
              <a:rPr lang="it-IT" sz="2400" dirty="0" err="1">
                <a:ea typeface="+mn-lt"/>
                <a:cs typeface="+mn-lt"/>
              </a:rPr>
              <a:t>wrapper</a:t>
            </a:r>
            <a:r>
              <a:rPr lang="it-IT" sz="2400" dirty="0">
                <a:ea typeface="+mn-lt"/>
                <a:cs typeface="+mn-lt"/>
              </a:rPr>
              <a:t> and PPO </a:t>
            </a:r>
            <a:r>
              <a:rPr lang="it-IT" sz="2400" dirty="0" err="1">
                <a:ea typeface="+mn-lt"/>
                <a:cs typeface="+mn-lt"/>
              </a:rPr>
              <a:t>integration</a:t>
            </a:r>
            <a:endParaRPr lang="it-IT" sz="2400" dirty="0">
              <a:cs typeface="Arial" panose="020B0604020202020204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6FD58F5-0BB5-7B61-98CF-34189438F4EA}"/>
              </a:ext>
            </a:extLst>
          </p:cNvPr>
          <p:cNvSpPr txBox="1"/>
          <p:nvPr/>
        </p:nvSpPr>
        <p:spPr>
          <a:xfrm>
            <a:off x="465580" y="1767753"/>
            <a:ext cx="1301267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it-IT" sz="2400" dirty="0" err="1">
                <a:solidFill>
                  <a:schemeClr val="tx2"/>
                </a:solidFill>
                <a:latin typeface="Arial" panose="020B0604020202020204"/>
              </a:rPr>
              <a:t>Contribution</a:t>
            </a:r>
            <a:endParaRPr lang="it-IT" sz="2400" dirty="0" err="1">
              <a:solidFill>
                <a:schemeClr val="tx2"/>
              </a:solidFill>
              <a:cs typeface="Arial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AFEEFA0-69B1-05A3-CD55-B5EB11099AC7}"/>
              </a:ext>
            </a:extLst>
          </p:cNvPr>
          <p:cNvSpPr txBox="1"/>
          <p:nvPr/>
        </p:nvSpPr>
        <p:spPr>
          <a:xfrm>
            <a:off x="462533" y="3210417"/>
            <a:ext cx="13700926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it-IT" sz="2400" b="1" dirty="0" err="1"/>
              <a:t>Controlled</a:t>
            </a:r>
            <a:r>
              <a:rPr lang="it-IT" sz="2400" b="1" dirty="0"/>
              <a:t> Benchmark: </a:t>
            </a:r>
            <a:r>
              <a:rPr lang="it-IT" sz="2400" dirty="0" err="1">
                <a:ea typeface="+mn-lt"/>
                <a:cs typeface="+mn-lt"/>
              </a:rPr>
              <a:t>Raw</a:t>
            </a:r>
            <a:r>
              <a:rPr lang="it-IT" sz="2400" dirty="0">
                <a:ea typeface="+mn-lt"/>
                <a:cs typeface="+mn-lt"/>
              </a:rPr>
              <a:t> and </a:t>
            </a:r>
            <a:r>
              <a:rPr lang="it-IT" sz="2400" dirty="0" err="1">
                <a:ea typeface="+mn-lt"/>
                <a:cs typeface="+mn-lt"/>
              </a:rPr>
              <a:t>latent</a:t>
            </a:r>
            <a:r>
              <a:rPr lang="it-IT" sz="2400" dirty="0">
                <a:ea typeface="+mn-lt"/>
                <a:cs typeface="+mn-lt"/>
              </a:rPr>
              <a:t> PPO </a:t>
            </a:r>
            <a:r>
              <a:rPr lang="it-IT" sz="2400" dirty="0" err="1">
                <a:ea typeface="+mn-lt"/>
                <a:cs typeface="+mn-lt"/>
              </a:rPr>
              <a:t>evaluated</a:t>
            </a:r>
            <a:r>
              <a:rPr lang="it-IT" sz="2400" dirty="0">
                <a:ea typeface="+mn-lt"/>
                <a:cs typeface="+mn-lt"/>
              </a:rPr>
              <a:t> with the </a:t>
            </a:r>
            <a:r>
              <a:rPr lang="it-IT" sz="2400" dirty="0" err="1">
                <a:ea typeface="+mn-lt"/>
                <a:cs typeface="+mn-lt"/>
              </a:rPr>
              <a:t>same</a:t>
            </a:r>
            <a:r>
              <a:rPr lang="it-IT" sz="2400" dirty="0">
                <a:ea typeface="+mn-lt"/>
                <a:cs typeface="+mn-lt"/>
              </a:rPr>
              <a:t> </a:t>
            </a:r>
            <a:r>
              <a:rPr lang="it-IT" sz="2400" dirty="0" err="1">
                <a:ea typeface="+mn-lt"/>
                <a:cs typeface="+mn-lt"/>
              </a:rPr>
              <a:t>experimental</a:t>
            </a:r>
            <a:r>
              <a:rPr lang="it-IT" sz="2400" dirty="0">
                <a:ea typeface="+mn-lt"/>
                <a:cs typeface="+mn-lt"/>
              </a:rPr>
              <a:t> </a:t>
            </a:r>
            <a:r>
              <a:rPr lang="it-IT" sz="2400" dirty="0" err="1">
                <a:ea typeface="+mn-lt"/>
                <a:cs typeface="+mn-lt"/>
              </a:rPr>
              <a:t>protocol</a:t>
            </a:r>
            <a:endParaRPr lang="it-IT" sz="2400" dirty="0" err="1">
              <a:cs typeface="Arial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1721D79-7D07-BC25-EF0B-85E2E4EB7006}"/>
              </a:ext>
            </a:extLst>
          </p:cNvPr>
          <p:cNvSpPr txBox="1"/>
          <p:nvPr/>
        </p:nvSpPr>
        <p:spPr>
          <a:xfrm>
            <a:off x="462533" y="3988686"/>
            <a:ext cx="13700926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it-IT" sz="2400" b="1" dirty="0" err="1"/>
              <a:t>Reproducibility</a:t>
            </a:r>
            <a:r>
              <a:rPr lang="it-IT" sz="2400" b="1" dirty="0"/>
              <a:t>: </a:t>
            </a:r>
            <a:r>
              <a:rPr lang="it-IT" sz="2400" dirty="0">
                <a:ea typeface="+mn-lt"/>
                <a:cs typeface="+mn-lt"/>
              </a:rPr>
              <a:t>Three training </a:t>
            </a:r>
            <a:r>
              <a:rPr lang="it-IT" sz="2400" dirty="0" err="1">
                <a:ea typeface="+mn-lt"/>
                <a:cs typeface="+mn-lt"/>
              </a:rPr>
              <a:t>seeds</a:t>
            </a:r>
            <a:r>
              <a:rPr lang="it-IT" sz="2400" dirty="0">
                <a:ea typeface="+mn-lt"/>
                <a:cs typeface="+mn-lt"/>
              </a:rPr>
              <a:t>, </a:t>
            </a:r>
            <a:r>
              <a:rPr lang="it-IT" sz="2400" dirty="0" err="1">
                <a:ea typeface="+mn-lt"/>
                <a:cs typeface="+mn-lt"/>
              </a:rPr>
              <a:t>fixed</a:t>
            </a:r>
            <a:r>
              <a:rPr lang="it-IT" sz="2400" dirty="0">
                <a:ea typeface="+mn-lt"/>
                <a:cs typeface="+mn-lt"/>
              </a:rPr>
              <a:t> </a:t>
            </a:r>
            <a:r>
              <a:rPr lang="it-IT" sz="2400" dirty="0" err="1">
                <a:ea typeface="+mn-lt"/>
                <a:cs typeface="+mn-lt"/>
              </a:rPr>
              <a:t>evaluation</a:t>
            </a:r>
            <a:r>
              <a:rPr lang="it-IT" sz="2400" dirty="0">
                <a:ea typeface="+mn-lt"/>
                <a:cs typeface="+mn-lt"/>
              </a:rPr>
              <a:t> </a:t>
            </a:r>
            <a:r>
              <a:rPr lang="it-IT" sz="2400" dirty="0" err="1">
                <a:ea typeface="+mn-lt"/>
                <a:cs typeface="+mn-lt"/>
              </a:rPr>
              <a:t>seeds</a:t>
            </a:r>
            <a:r>
              <a:rPr lang="it-IT" sz="2400" dirty="0">
                <a:ea typeface="+mn-lt"/>
                <a:cs typeface="+mn-lt"/>
              </a:rPr>
              <a:t> and </a:t>
            </a:r>
            <a:r>
              <a:rPr lang="it-IT" sz="2400" dirty="0" err="1">
                <a:ea typeface="+mn-lt"/>
                <a:cs typeface="+mn-lt"/>
              </a:rPr>
              <a:t>saved</a:t>
            </a:r>
            <a:r>
              <a:rPr lang="it-IT" sz="2400" dirty="0">
                <a:ea typeface="+mn-lt"/>
                <a:cs typeface="+mn-lt"/>
              </a:rPr>
              <a:t> </a:t>
            </a:r>
            <a:r>
              <a:rPr lang="it-IT" sz="2400" dirty="0" err="1">
                <a:ea typeface="+mn-lt"/>
                <a:cs typeface="+mn-lt"/>
              </a:rPr>
              <a:t>configurations</a:t>
            </a:r>
            <a:endParaRPr lang="en-US" sz="2400">
              <a:cs typeface="Arial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EB91EA4-0EF7-BD8E-12E0-B24A78129F85}"/>
              </a:ext>
            </a:extLst>
          </p:cNvPr>
          <p:cNvSpPr txBox="1"/>
          <p:nvPr/>
        </p:nvSpPr>
        <p:spPr>
          <a:xfrm>
            <a:off x="462533" y="4724915"/>
            <a:ext cx="13700926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it-IT" sz="2400" b="1" dirty="0"/>
              <a:t>Critical Analysis: </a:t>
            </a:r>
            <a:r>
              <a:rPr lang="it-IT" sz="2400" dirty="0">
                <a:ea typeface="+mn-lt"/>
                <a:cs typeface="+mn-lt"/>
              </a:rPr>
              <a:t>Sample </a:t>
            </a:r>
            <a:r>
              <a:rPr lang="it-IT" sz="2400" dirty="0" err="1">
                <a:ea typeface="+mn-lt"/>
                <a:cs typeface="+mn-lt"/>
              </a:rPr>
              <a:t>efficiency</a:t>
            </a:r>
            <a:r>
              <a:rPr lang="it-IT" sz="2400" dirty="0">
                <a:ea typeface="+mn-lt"/>
                <a:cs typeface="+mn-lt"/>
              </a:rPr>
              <a:t>, stability, final performance and </a:t>
            </a:r>
            <a:r>
              <a:rPr lang="it-IT" sz="2400" dirty="0" err="1">
                <a:ea typeface="+mn-lt"/>
                <a:cs typeface="+mn-lt"/>
              </a:rPr>
              <a:t>failure</a:t>
            </a:r>
            <a:r>
              <a:rPr lang="it-IT" sz="2400" dirty="0">
                <a:ea typeface="+mn-lt"/>
                <a:cs typeface="+mn-lt"/>
              </a:rPr>
              <a:t> </a:t>
            </a:r>
            <a:r>
              <a:rPr lang="it-IT" sz="2400" dirty="0" err="1">
                <a:ea typeface="+mn-lt"/>
                <a:cs typeface="+mn-lt"/>
              </a:rPr>
              <a:t>modes</a:t>
            </a:r>
            <a:endParaRPr lang="en-US" sz="2400"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6A4AF9-7F12-F6EC-C5B6-DECEBAF3177B}"/>
              </a:ext>
            </a:extLst>
          </p:cNvPr>
          <p:cNvSpPr txBox="1"/>
          <p:nvPr/>
        </p:nvSpPr>
        <p:spPr>
          <a:xfrm>
            <a:off x="767749" y="6295325"/>
            <a:ext cx="130920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+mn-lt"/>
                <a:cs typeface="+mn-lt"/>
              </a:rPr>
              <a:t>The contribution is an interpretable and reproducible experimental comparison, not a new RL algorithm.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1637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9BDF8-0FCB-8BAE-6A56-89547DFD8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2FB14C83-549A-3113-3796-B5D24CB5C2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42110106-6A5D-1957-ACC6-14FB736D15A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2181CA-9A6E-A0E9-2AC0-86CF5D06032A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B88888-3615-7E99-3848-7052CF64AA40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>
                <a:solidFill>
                  <a:prstClr val="white"/>
                </a:solidFill>
                <a:latin typeface="Arial Nova" panose="020F0502020204030204" pitchFamily="34" charset="0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2392688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E01B3-2F72-CF0E-081C-DD14DAA30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1F86321-8BA1-8C00-70CC-7A75810B9850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D6C4B81-B587-58F3-122A-CD697BCE0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z="1400" smtClean="0"/>
              <a:pPr/>
              <a:t>12</a:t>
            </a:fld>
            <a:r>
              <a:rPr lang="en-US" sz="1400"/>
              <a:t>/23</a:t>
            </a:r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6E83A13-9A0D-B7C7-005A-523936488F03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8D0F4EE3-7E96-1427-B176-4254E5DB7D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056D422E-C7F5-1EAC-CD14-621D6C21BE7B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ln w="0"/>
                <a:solidFill>
                  <a:schemeClr val="tx2"/>
                </a:solidFill>
              </a:rPr>
              <a:t>Dataset and Autoencoder Architecture</a:t>
            </a:r>
            <a:endParaRPr lang="en-US" sz="2800" b="1">
              <a:ln w="0"/>
              <a:solidFill>
                <a:schemeClr val="tx2"/>
              </a:solidFill>
              <a:cs typeface="Arial"/>
            </a:endParaRP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2C2438F1-3F44-2852-9072-6A6B13B96156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noProof="0">
                <a:solidFill>
                  <a:schemeClr val="tx2"/>
                </a:solidFill>
              </a:rPr>
              <a:t>Dataset and Experimental Protocol </a:t>
            </a:r>
            <a:r>
              <a:rPr lang="en-GB">
                <a:solidFill>
                  <a:schemeClr val="tx2"/>
                </a:solidFill>
              </a:rPr>
              <a:t>●○○○○○</a:t>
            </a:r>
            <a:endParaRPr lang="en-GB" noProof="0">
              <a:solidFill>
                <a:schemeClr val="tx2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E21F82-10FA-ECE4-234D-AA31797908D2}"/>
              </a:ext>
            </a:extLst>
          </p:cNvPr>
          <p:cNvSpPr/>
          <p:nvPr/>
        </p:nvSpPr>
        <p:spPr>
          <a:xfrm>
            <a:off x="845820" y="1851659"/>
            <a:ext cx="3291840" cy="482346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cs typeface="Arial"/>
              </a:rPr>
              <a:t>Frame dataset</a:t>
            </a:r>
            <a:endParaRPr lang="en-US" sz="2400" b="1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b="1" dirty="0">
              <a:solidFill>
                <a:schemeClr val="tx1"/>
              </a:solidFill>
              <a:cs typeface="Arial"/>
            </a:endParaRPr>
          </a:p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18,293 PNG frames</a:t>
            </a:r>
            <a:endParaRPr lang="en-US" sz="2000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sz="2000" dirty="0">
              <a:solidFill>
                <a:schemeClr val="tx1"/>
              </a:solidFill>
              <a:cs typeface="Arial"/>
            </a:endParaRPr>
          </a:p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96x96 RGB</a:t>
            </a:r>
            <a:endParaRPr lang="en-US" sz="2000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sz="2000" dirty="0">
              <a:solidFill>
                <a:schemeClr val="tx1"/>
              </a:solidFill>
              <a:cs typeface="Arial"/>
            </a:endParaRPr>
          </a:p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90% train / 10% validation</a:t>
            </a:r>
            <a:endParaRPr lang="en-US" sz="2000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sz="2000" dirty="0">
              <a:solidFill>
                <a:schemeClr val="tx1"/>
              </a:solidFill>
              <a:cs typeface="Arial"/>
            </a:endParaRPr>
          </a:p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Normalized to [0, 1]</a:t>
            </a:r>
            <a:endParaRPr lang="en-US" sz="20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B11F743-FB21-3006-993D-E6B472C60C7A}"/>
              </a:ext>
            </a:extLst>
          </p:cNvPr>
          <p:cNvSpPr/>
          <p:nvPr/>
        </p:nvSpPr>
        <p:spPr>
          <a:xfrm>
            <a:off x="10412730" y="1851658"/>
            <a:ext cx="3291840" cy="482346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cs typeface="Arial"/>
              </a:rPr>
              <a:t>Training</a:t>
            </a:r>
            <a:endParaRPr lang="en-US" sz="2400" b="1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b="1" dirty="0">
              <a:solidFill>
                <a:schemeClr val="tx1"/>
              </a:solidFill>
              <a:cs typeface="Arial"/>
            </a:endParaRPr>
          </a:p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MSE loss</a:t>
            </a:r>
            <a:endParaRPr lang="en-US" sz="2000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sz="2000" dirty="0">
              <a:solidFill>
                <a:schemeClr val="tx1"/>
              </a:solidFill>
              <a:cs typeface="Arial"/>
            </a:endParaRPr>
          </a:p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Adam</a:t>
            </a:r>
            <a:endParaRPr lang="en-US" sz="2000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sz="2000" dirty="0">
              <a:solidFill>
                <a:schemeClr val="tx1"/>
              </a:solidFill>
              <a:cs typeface="Arial"/>
            </a:endParaRPr>
          </a:p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Batch 128</a:t>
            </a:r>
            <a:endParaRPr lang="en-US" sz="2000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sz="2000" dirty="0">
              <a:solidFill>
                <a:schemeClr val="tx1"/>
              </a:solidFill>
              <a:cs typeface="Arial"/>
            </a:endParaRPr>
          </a:p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40 epochs</a:t>
            </a:r>
          </a:p>
          <a:p>
            <a:pPr algn="ctr"/>
            <a:endParaRPr lang="en-US" sz="2000" dirty="0">
              <a:solidFill>
                <a:schemeClr val="tx1"/>
              </a:solidFill>
              <a:cs typeface="Arial"/>
            </a:endParaRPr>
          </a:p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3.75M parameters</a:t>
            </a:r>
            <a:endParaRPr lang="en-US" sz="20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3CF232-5E64-6B83-7109-0DE0C9213D4E}"/>
              </a:ext>
            </a:extLst>
          </p:cNvPr>
          <p:cNvSpPr txBox="1"/>
          <p:nvPr/>
        </p:nvSpPr>
        <p:spPr>
          <a:xfrm>
            <a:off x="4842958" y="1764254"/>
            <a:ext cx="204395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cs typeface="Arial"/>
              </a:rPr>
              <a:t>Encoder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F514D7-5CDE-B83D-6E61-13CD67A77DFD}"/>
              </a:ext>
            </a:extLst>
          </p:cNvPr>
          <p:cNvSpPr txBox="1"/>
          <p:nvPr/>
        </p:nvSpPr>
        <p:spPr>
          <a:xfrm>
            <a:off x="7660789" y="1758875"/>
            <a:ext cx="20432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cs typeface="Arial"/>
              </a:rPr>
              <a:t>Decoder</a:t>
            </a:r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795E302-BA90-4D92-A8A5-64D4DF41E7C6}"/>
              </a:ext>
            </a:extLst>
          </p:cNvPr>
          <p:cNvSpPr/>
          <p:nvPr/>
        </p:nvSpPr>
        <p:spPr>
          <a:xfrm>
            <a:off x="4846320" y="2354578"/>
            <a:ext cx="2045970" cy="5257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3 x 96 x 96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C3011A5-BD9C-23D7-C049-5C05A429C48E}"/>
              </a:ext>
            </a:extLst>
          </p:cNvPr>
          <p:cNvSpPr/>
          <p:nvPr/>
        </p:nvSpPr>
        <p:spPr>
          <a:xfrm>
            <a:off x="7658099" y="2354578"/>
            <a:ext cx="2045970" cy="5257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Latent 128</a:t>
            </a:r>
            <a:endParaRPr lang="en-US" sz="20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A306566-AFC7-0247-DFA5-398D3640AED7}"/>
              </a:ext>
            </a:extLst>
          </p:cNvPr>
          <p:cNvSpPr/>
          <p:nvPr/>
        </p:nvSpPr>
        <p:spPr>
          <a:xfrm>
            <a:off x="4846319" y="3086098"/>
            <a:ext cx="2045970" cy="5257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32 x 48 x 48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8B026C1-3E04-A78B-3A05-B962CCBD41B8}"/>
              </a:ext>
            </a:extLst>
          </p:cNvPr>
          <p:cNvSpPr/>
          <p:nvPr/>
        </p:nvSpPr>
        <p:spPr>
          <a:xfrm>
            <a:off x="7658098" y="3086098"/>
            <a:ext cx="2045970" cy="5257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256 x 6 x 6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D5CE59D-BA9C-12A5-8EDA-39708A7A0D6D}"/>
              </a:ext>
            </a:extLst>
          </p:cNvPr>
          <p:cNvSpPr/>
          <p:nvPr/>
        </p:nvSpPr>
        <p:spPr>
          <a:xfrm>
            <a:off x="4857749" y="3817618"/>
            <a:ext cx="2045970" cy="5257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64 x 24 x 24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125AC51-774C-7ADD-083A-4FC89485D208}"/>
              </a:ext>
            </a:extLst>
          </p:cNvPr>
          <p:cNvSpPr/>
          <p:nvPr/>
        </p:nvSpPr>
        <p:spPr>
          <a:xfrm>
            <a:off x="7669528" y="3817618"/>
            <a:ext cx="2045970" cy="5257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128 x 12 x 12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147B604-B5AD-C593-1AC3-BF49BA435E48}"/>
              </a:ext>
            </a:extLst>
          </p:cNvPr>
          <p:cNvSpPr/>
          <p:nvPr/>
        </p:nvSpPr>
        <p:spPr>
          <a:xfrm>
            <a:off x="4857748" y="4549138"/>
            <a:ext cx="2045970" cy="5257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128 x 12 x 12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35A4144-C21D-DED2-22AD-0460E0E46AE0}"/>
              </a:ext>
            </a:extLst>
          </p:cNvPr>
          <p:cNvSpPr/>
          <p:nvPr/>
        </p:nvSpPr>
        <p:spPr>
          <a:xfrm>
            <a:off x="7669528" y="4549138"/>
            <a:ext cx="2045970" cy="5257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64 x 24 x 24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AE92530-24FC-FE4A-9727-A74DC2A61D88}"/>
              </a:ext>
            </a:extLst>
          </p:cNvPr>
          <p:cNvSpPr/>
          <p:nvPr/>
        </p:nvSpPr>
        <p:spPr>
          <a:xfrm>
            <a:off x="4846318" y="5303518"/>
            <a:ext cx="2045970" cy="5257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256 x 6 x 6</a:t>
            </a:r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25CACFF-8D16-2257-2D5D-0DD5E89149DA}"/>
              </a:ext>
            </a:extLst>
          </p:cNvPr>
          <p:cNvSpPr/>
          <p:nvPr/>
        </p:nvSpPr>
        <p:spPr>
          <a:xfrm>
            <a:off x="7680958" y="5303518"/>
            <a:ext cx="2045970" cy="5257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32 x 48 x 48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43D3C7F-2675-F781-DDAA-92E87B0D53E2}"/>
              </a:ext>
            </a:extLst>
          </p:cNvPr>
          <p:cNvSpPr/>
          <p:nvPr/>
        </p:nvSpPr>
        <p:spPr>
          <a:xfrm>
            <a:off x="4846318" y="6057898"/>
            <a:ext cx="2045970" cy="5257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Latent 128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F49A016-8F40-DD20-ABC9-0820D9C1F695}"/>
              </a:ext>
            </a:extLst>
          </p:cNvPr>
          <p:cNvSpPr/>
          <p:nvPr/>
        </p:nvSpPr>
        <p:spPr>
          <a:xfrm>
            <a:off x="7680958" y="6057898"/>
            <a:ext cx="2045970" cy="5257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3 x 96 x 96</a:t>
            </a:r>
          </a:p>
        </p:txBody>
      </p:sp>
    </p:spTree>
    <p:extLst>
      <p:ext uri="{BB962C8B-B14F-4D97-AF65-F5344CB8AC3E}">
        <p14:creationId xmlns:p14="http://schemas.microsoft.com/office/powerpoint/2010/main" val="2967654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0B86EE-17B1-1A82-EEF6-747F9B10D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A24B89F-F68C-2520-9CA7-A8FCCE50710E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EAA6DEC-61AE-CC52-0425-197CB692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z="1400" smtClean="0"/>
              <a:pPr/>
              <a:t>13</a:t>
            </a:fld>
            <a:r>
              <a:rPr lang="en-US" sz="1400"/>
              <a:t>/23</a:t>
            </a:r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24EF330-805C-DF7B-5115-2BECEE4879DC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03C4EE9A-7494-2FD2-890F-398DD6F48A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F0E0BC96-B55E-422E-8ACF-DFD0E6C67C86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ln w="0"/>
                <a:solidFill>
                  <a:schemeClr val="tx2"/>
                </a:solidFill>
              </a:rPr>
              <a:t>Autoencoder Results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3395E8DB-0588-F14F-1CA3-5B7F9561D18A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noProof="0">
                <a:solidFill>
                  <a:schemeClr val="tx2"/>
                </a:solidFill>
              </a:rPr>
              <a:t>Dataset and Experimental Protocol </a:t>
            </a:r>
            <a:r>
              <a:rPr lang="en-GB">
                <a:solidFill>
                  <a:schemeClr val="tx2"/>
                </a:solidFill>
              </a:rPr>
              <a:t>○●○○○○</a:t>
            </a:r>
            <a:endParaRPr lang="en-GB" noProof="0">
              <a:solidFill>
                <a:schemeClr val="tx2"/>
              </a:solidFill>
            </a:endParaRPr>
          </a:p>
        </p:txBody>
      </p:sp>
      <p:pic>
        <p:nvPicPr>
          <p:cNvPr id="2" name="Picture 1" descr="A graph of a training curve&#10;&#10;AI-generated content may be incorrect.">
            <a:extLst>
              <a:ext uri="{FF2B5EF4-FFF2-40B4-BE49-F238E27FC236}">
                <a16:creationId xmlns:a16="http://schemas.microsoft.com/office/drawing/2014/main" id="{94F9C25A-13B6-9498-B79B-700A97E6E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" y="1811655"/>
            <a:ext cx="7235190" cy="4583430"/>
          </a:xfrm>
          <a:prstGeom prst="rect">
            <a:avLst/>
          </a:prstGeom>
        </p:spPr>
      </p:pic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3A8EEB1C-7A33-7FC9-1122-61650A303E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" r="49375" b="-781"/>
          <a:stretch>
            <a:fillRect/>
          </a:stretch>
        </p:blipFill>
        <p:spPr>
          <a:xfrm>
            <a:off x="8158734" y="1303020"/>
            <a:ext cx="6025897" cy="3011806"/>
          </a:xfrm>
          <a:prstGeom prst="rect">
            <a:avLst/>
          </a:prstGeom>
        </p:spPr>
      </p:pic>
      <p:pic>
        <p:nvPicPr>
          <p:cNvPr id="7" name="Picture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327F7DFC-9A95-91A0-4E0B-E2F789522F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000" r="78" b="-781"/>
          <a:stretch>
            <a:fillRect/>
          </a:stretch>
        </p:blipFill>
        <p:spPr>
          <a:xfrm>
            <a:off x="8161020" y="4320540"/>
            <a:ext cx="6023615" cy="30118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5892DD-1798-DB72-6919-C4CF5182887E}"/>
              </a:ext>
            </a:extLst>
          </p:cNvPr>
          <p:cNvSpPr txBox="1"/>
          <p:nvPr/>
        </p:nvSpPr>
        <p:spPr>
          <a:xfrm>
            <a:off x="1838885" y="6416936"/>
            <a:ext cx="47871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cs typeface="Arial"/>
              </a:rPr>
              <a:t>Final losses</a:t>
            </a:r>
            <a:endParaRPr lang="en-US"/>
          </a:p>
          <a:p>
            <a:pPr algn="ctr"/>
            <a:r>
              <a:rPr lang="en-US">
                <a:cs typeface="Arial"/>
              </a:rPr>
              <a:t>Train: 0.000581</a:t>
            </a:r>
          </a:p>
          <a:p>
            <a:pPr algn="ctr"/>
            <a:r>
              <a:rPr lang="en-US">
                <a:cs typeface="Arial"/>
              </a:rPr>
              <a:t>Validation: 0.000659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7477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5BA6F-3B52-E315-861B-8BC57787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1A82746D-D7A8-DF3A-F39F-57631C791BB6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FFB3C7F-38A0-2232-41D6-E727D07B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z="1400" smtClean="0"/>
              <a:pPr/>
              <a:t>14</a:t>
            </a:fld>
            <a:r>
              <a:rPr lang="en-US" sz="1400"/>
              <a:t>/23</a:t>
            </a:r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72F491F-B479-B3FD-F8CA-007F4EF6EE1A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9A6AE5C2-6D36-CDA2-C5D0-DC9055CF71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5BF28C08-6CD7-597D-769F-DCA092317090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ln w="0"/>
                <a:solidFill>
                  <a:schemeClr val="tx2"/>
                </a:solidFill>
              </a:rPr>
              <a:t>Controlled Experimental Protocol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B5F7F761-D91F-9232-55E2-B3782B2921C6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noProof="0">
                <a:solidFill>
                  <a:schemeClr val="tx2"/>
                </a:solidFill>
              </a:rPr>
              <a:t>Dataset and Experimental Protocol </a:t>
            </a:r>
            <a:r>
              <a:rPr lang="en-GB">
                <a:solidFill>
                  <a:schemeClr val="tx2"/>
                </a:solidFill>
              </a:rPr>
              <a:t>○○●○○○</a:t>
            </a:r>
            <a:endParaRPr lang="en-GB" noProof="0">
              <a:solidFill>
                <a:schemeClr val="tx2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101388-CA7A-0B40-EF70-A2FC8481CD24}"/>
              </a:ext>
            </a:extLst>
          </p:cNvPr>
          <p:cNvSpPr/>
          <p:nvPr/>
        </p:nvSpPr>
        <p:spPr>
          <a:xfrm>
            <a:off x="1084799" y="2054770"/>
            <a:ext cx="2045970" cy="43118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RGB frames</a:t>
            </a:r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255AC09-790A-12C8-FEFE-D020DBBBA555}"/>
              </a:ext>
            </a:extLst>
          </p:cNvPr>
          <p:cNvSpPr/>
          <p:nvPr/>
        </p:nvSpPr>
        <p:spPr>
          <a:xfrm>
            <a:off x="3656549" y="2054770"/>
            <a:ext cx="2045970" cy="43118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cs typeface="Arial"/>
              </a:rPr>
              <a:t>PPO </a:t>
            </a:r>
            <a:r>
              <a:rPr lang="en-US" sz="2000" dirty="0" err="1">
                <a:solidFill>
                  <a:schemeClr val="tx1"/>
                </a:solidFill>
                <a:cs typeface="Arial"/>
              </a:rPr>
              <a:t>CnnPolicy</a:t>
            </a:r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6CCDC4E-835F-C673-9909-359F9FF7EEBE}"/>
              </a:ext>
            </a:extLst>
          </p:cNvPr>
          <p:cNvSpPr/>
          <p:nvPr/>
        </p:nvSpPr>
        <p:spPr>
          <a:xfrm>
            <a:off x="6228299" y="2054770"/>
            <a:ext cx="2045970" cy="43118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Actions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CD7AC0-204D-582F-CBD2-8BB5D3DDCA5A}"/>
              </a:ext>
            </a:extLst>
          </p:cNvPr>
          <p:cNvSpPr/>
          <p:nvPr/>
        </p:nvSpPr>
        <p:spPr>
          <a:xfrm>
            <a:off x="1083879" y="3270554"/>
            <a:ext cx="2045970" cy="43118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RGB frames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27D8AAA-E215-013E-112B-4D45507A339A}"/>
              </a:ext>
            </a:extLst>
          </p:cNvPr>
          <p:cNvSpPr/>
          <p:nvPr/>
        </p:nvSpPr>
        <p:spPr>
          <a:xfrm>
            <a:off x="3655629" y="3270554"/>
            <a:ext cx="2045970" cy="43118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Frozen Encoder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CB0427F-FEE2-9E4D-2CDE-F904BCAFE629}"/>
              </a:ext>
            </a:extLst>
          </p:cNvPr>
          <p:cNvSpPr/>
          <p:nvPr/>
        </p:nvSpPr>
        <p:spPr>
          <a:xfrm>
            <a:off x="6227379" y="3270554"/>
            <a:ext cx="2045970" cy="43118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Latent 128</a:t>
            </a:r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0319417-9B20-9BC8-AF82-BAAB51D7A771}"/>
              </a:ext>
            </a:extLst>
          </p:cNvPr>
          <p:cNvSpPr/>
          <p:nvPr/>
        </p:nvSpPr>
        <p:spPr>
          <a:xfrm>
            <a:off x="8833419" y="3270554"/>
            <a:ext cx="2045970" cy="43118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cs typeface="Arial"/>
              </a:rPr>
              <a:t>PPO </a:t>
            </a:r>
            <a:r>
              <a:rPr lang="en-US" sz="2000" dirty="0" err="1">
                <a:solidFill>
                  <a:schemeClr val="tx1"/>
                </a:solidFill>
                <a:cs typeface="Arial"/>
              </a:rPr>
              <a:t>MlpPolicy</a:t>
            </a:r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CDC6E3D-06C9-E2B0-E94A-3FD5AD2D5C9C}"/>
              </a:ext>
            </a:extLst>
          </p:cNvPr>
          <p:cNvSpPr/>
          <p:nvPr/>
        </p:nvSpPr>
        <p:spPr>
          <a:xfrm>
            <a:off x="11439459" y="3270554"/>
            <a:ext cx="2045970" cy="43118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cs typeface="Arial"/>
              </a:rPr>
              <a:t>Actions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8E353B-CF30-247F-1518-5CC263B218D7}"/>
              </a:ext>
            </a:extLst>
          </p:cNvPr>
          <p:cNvSpPr txBox="1"/>
          <p:nvPr/>
        </p:nvSpPr>
        <p:spPr>
          <a:xfrm>
            <a:off x="1070324" y="1511511"/>
            <a:ext cx="204790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cs typeface="Arial"/>
              </a:rPr>
              <a:t>RAW-PIXEL PPO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40CDC8-92A4-6552-F2F9-0B88888C551A}"/>
              </a:ext>
            </a:extLst>
          </p:cNvPr>
          <p:cNvSpPr txBox="1"/>
          <p:nvPr/>
        </p:nvSpPr>
        <p:spPr>
          <a:xfrm>
            <a:off x="1080339" y="2752844"/>
            <a:ext cx="20493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cs typeface="Arial"/>
              </a:rPr>
              <a:t>LATENT PPO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BDB944B-6E5B-4A0C-B3F7-BA0F85E10FEE}"/>
              </a:ext>
            </a:extLst>
          </p:cNvPr>
          <p:cNvSpPr/>
          <p:nvPr/>
        </p:nvSpPr>
        <p:spPr>
          <a:xfrm>
            <a:off x="3231622" y="2253788"/>
            <a:ext cx="344244" cy="1190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B1623272-EF99-6D5B-A6D8-66F898F302AE}"/>
              </a:ext>
            </a:extLst>
          </p:cNvPr>
          <p:cNvSpPr/>
          <p:nvPr/>
        </p:nvSpPr>
        <p:spPr>
          <a:xfrm>
            <a:off x="5785635" y="2243278"/>
            <a:ext cx="344244" cy="1190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72AD1AAD-FB42-66CC-5198-A8E1FCB90BB9}"/>
              </a:ext>
            </a:extLst>
          </p:cNvPr>
          <p:cNvSpPr/>
          <p:nvPr/>
        </p:nvSpPr>
        <p:spPr>
          <a:xfrm>
            <a:off x="3242130" y="3451967"/>
            <a:ext cx="344244" cy="1190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EFA9B78-71CB-39CA-B5F6-BA4855A61061}"/>
              </a:ext>
            </a:extLst>
          </p:cNvPr>
          <p:cNvSpPr/>
          <p:nvPr/>
        </p:nvSpPr>
        <p:spPr>
          <a:xfrm>
            <a:off x="5796143" y="3451965"/>
            <a:ext cx="344244" cy="1190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DE063D31-0E67-05BA-5BCE-5A1F42610A84}"/>
              </a:ext>
            </a:extLst>
          </p:cNvPr>
          <p:cNvSpPr/>
          <p:nvPr/>
        </p:nvSpPr>
        <p:spPr>
          <a:xfrm>
            <a:off x="8371177" y="3451965"/>
            <a:ext cx="344244" cy="1190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6E8AA462-C81B-4F6A-9A73-7013F75EA19E}"/>
              </a:ext>
            </a:extLst>
          </p:cNvPr>
          <p:cNvSpPr/>
          <p:nvPr/>
        </p:nvSpPr>
        <p:spPr>
          <a:xfrm>
            <a:off x="10988252" y="3451963"/>
            <a:ext cx="344244" cy="1190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8476E3-3C46-69D6-5737-C16DFE654EA2}"/>
              </a:ext>
            </a:extLst>
          </p:cNvPr>
          <p:cNvSpPr txBox="1"/>
          <p:nvPr/>
        </p:nvSpPr>
        <p:spPr>
          <a:xfrm>
            <a:off x="656216" y="4819796"/>
            <a:ext cx="7885355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PPO algorithm</a:t>
            </a:r>
            <a:endParaRPr lang="en-US" sz="2000">
              <a:cs typeface="Arial" panose="020B0604020202020204"/>
            </a:endParaRPr>
          </a:p>
          <a:p>
            <a:pPr marL="285750" indent="-28575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Learning rate: 1e-4</a:t>
            </a:r>
            <a:endParaRPr lang="en-US" sz="2000">
              <a:cs typeface="Arial" panose="020B0604020202020204"/>
            </a:endParaRPr>
          </a:p>
          <a:p>
            <a:pPr marL="285750" indent="-28575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2 parallel environments</a:t>
            </a:r>
            <a:endParaRPr lang="en-US" sz="2000">
              <a:cs typeface="Arial" panose="020B0604020202020204"/>
            </a:endParaRPr>
          </a:p>
          <a:p>
            <a:pPr marL="285750" indent="-28575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2,000,000 timesteps per run</a:t>
            </a:r>
            <a:endParaRPr lang="en-US" sz="2000">
              <a:cs typeface="Arial" panose="020B0604020202020204"/>
            </a:endParaRPr>
          </a:p>
          <a:p>
            <a:pPr marL="285750" indent="-28575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Training seeds: 42, 123, 456</a:t>
            </a:r>
            <a:endParaRPr lang="en-US" sz="2000">
              <a:cs typeface="Arial" panose="020B0604020202020204"/>
            </a:endParaRPr>
          </a:p>
          <a:p>
            <a:pPr marL="285750" indent="-28575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Evaluation seed: 10,000</a:t>
            </a:r>
            <a:endParaRPr lang="en-US" sz="2000">
              <a:cs typeface="Arial" panose="020B0604020202020204"/>
            </a:endParaRPr>
          </a:p>
          <a:p>
            <a:pPr marL="285750" indent="-28575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5 deterministic evaluation episodes</a:t>
            </a:r>
            <a:endParaRPr lang="en-US" sz="2000">
              <a:cs typeface="Arial" panose="020B0604020202020204"/>
            </a:endParaRPr>
          </a:p>
          <a:p>
            <a:pPr marL="285750" indent="-285750">
              <a:buFont typeface="Wingdings"/>
              <a:buChar char="§"/>
            </a:pPr>
            <a:r>
              <a:rPr lang="en-US" sz="2000">
                <a:ea typeface="+mn-lt"/>
                <a:cs typeface="+mn-lt"/>
              </a:rPr>
              <a:t>Evaluation every 20,000 environment timesteps</a:t>
            </a:r>
            <a:endParaRPr lang="en-US" sz="2000">
              <a:cs typeface="Arial" panose="020B060402020202020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489A4F-0D6D-FFE3-C1C6-118FE227E055}"/>
              </a:ext>
            </a:extLst>
          </p:cNvPr>
          <p:cNvSpPr txBox="1"/>
          <p:nvPr/>
        </p:nvSpPr>
        <p:spPr>
          <a:xfrm>
            <a:off x="658195" y="4277215"/>
            <a:ext cx="332596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5C0000"/>
                </a:solidFill>
                <a:cs typeface="Arial"/>
              </a:rPr>
              <a:t>Shared confi</a:t>
            </a:r>
            <a:r>
              <a:rPr lang="en-US" sz="2400">
                <a:solidFill>
                  <a:srgbClr val="5C0000"/>
                </a:solidFill>
                <a:cs typeface="Arial"/>
              </a:rPr>
              <a:t>guration</a:t>
            </a:r>
            <a:endParaRPr lang="en-US" sz="2400" dirty="0">
              <a:solidFill>
                <a:srgbClr val="5C000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7550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84376E-2C5E-0F73-ACD4-F10F60095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F72E9856-2011-CADA-0CED-462EA0E94F4D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E2F842F-3055-ADE2-CCD9-B4BE19873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z="1400" smtClean="0"/>
              <a:pPr/>
              <a:t>15</a:t>
            </a:fld>
            <a:r>
              <a:rPr lang="en-US" sz="1400"/>
              <a:t>/23</a:t>
            </a:r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11437FD-1D8E-04E6-3641-AE38A47552D4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F6308CEA-E072-E100-F9EB-6D1AEBCFD2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966CA436-8E38-49F5-AE33-38A11F79C2DC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ln w="0"/>
                <a:solidFill>
                  <a:schemeClr val="tx2"/>
                </a:solidFill>
              </a:rPr>
              <a:t>Evaluation Metrics</a:t>
            </a:r>
            <a:endParaRPr lang="en-US"/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9003E900-1E10-F477-C73E-45921EA790F1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noProof="0">
                <a:solidFill>
                  <a:schemeClr val="tx2"/>
                </a:solidFill>
              </a:rPr>
              <a:t>Dataset and Experimental Protocol </a:t>
            </a:r>
            <a:r>
              <a:rPr lang="en-GB">
                <a:solidFill>
                  <a:schemeClr val="tx2"/>
                </a:solidFill>
              </a:rPr>
              <a:t>○○○●○○</a:t>
            </a:r>
            <a:endParaRPr lang="en-GB" noProof="0">
              <a:solidFill>
                <a:schemeClr val="tx2"/>
              </a:solidFill>
            </a:endParaRPr>
          </a:p>
        </p:txBody>
      </p:sp>
      <p:sp>
        <p:nvSpPr>
          <p:cNvPr id="9" name="CasellaDiTesto 1">
            <a:extLst>
              <a:ext uri="{FF2B5EF4-FFF2-40B4-BE49-F238E27FC236}">
                <a16:creationId xmlns:a16="http://schemas.microsoft.com/office/drawing/2014/main" id="{909609AA-D2DE-B70B-3C28-CBC991369A93}"/>
              </a:ext>
            </a:extLst>
          </p:cNvPr>
          <p:cNvSpPr txBox="1"/>
          <p:nvPr/>
        </p:nvSpPr>
        <p:spPr>
          <a:xfrm>
            <a:off x="483554" y="1959182"/>
            <a:ext cx="13700926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it-IT" sz="2400" b="1" dirty="0">
                <a:solidFill>
                  <a:prstClr val="black"/>
                </a:solidFill>
                <a:ea typeface="+mn-lt"/>
                <a:cs typeface="+mn-lt"/>
              </a:rPr>
              <a:t>Best Evaluation </a:t>
            </a:r>
            <a:r>
              <a:rPr lang="it-IT" sz="2400" b="1" dirty="0" err="1">
                <a:solidFill>
                  <a:prstClr val="black"/>
                </a:solidFill>
                <a:ea typeface="+mn-lt"/>
                <a:cs typeface="+mn-lt"/>
              </a:rPr>
              <a:t>Reward</a:t>
            </a:r>
            <a:r>
              <a:rPr lang="it-IT" sz="2400" b="1" dirty="0">
                <a:solidFill>
                  <a:prstClr val="black"/>
                </a:solidFill>
                <a:ea typeface="+mn-lt"/>
                <a:cs typeface="+mn-lt"/>
              </a:rPr>
              <a:t>:</a:t>
            </a:r>
            <a:r>
              <a:rPr lang="it-IT" sz="24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it-IT" sz="2400" dirty="0" err="1">
                <a:solidFill>
                  <a:prstClr val="black"/>
                </a:solidFill>
                <a:ea typeface="+mn-lt"/>
                <a:cs typeface="+mn-lt"/>
              </a:rPr>
              <a:t>Highest</a:t>
            </a:r>
            <a:r>
              <a:rPr lang="it-IT" sz="24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it-IT" sz="2400" dirty="0" err="1">
                <a:solidFill>
                  <a:prstClr val="black"/>
                </a:solidFill>
                <a:ea typeface="+mn-lt"/>
                <a:cs typeface="+mn-lt"/>
              </a:rPr>
              <a:t>mean</a:t>
            </a:r>
            <a:r>
              <a:rPr lang="it-IT" sz="24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it-IT" sz="2400" dirty="0" err="1">
                <a:solidFill>
                  <a:prstClr val="black"/>
                </a:solidFill>
                <a:ea typeface="+mn-lt"/>
                <a:cs typeface="+mn-lt"/>
              </a:rPr>
              <a:t>reward</a:t>
            </a:r>
            <a:r>
              <a:rPr lang="it-IT" sz="24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it-IT" sz="2400" dirty="0" err="1">
                <a:solidFill>
                  <a:prstClr val="black"/>
                </a:solidFill>
                <a:ea typeface="+mn-lt"/>
                <a:cs typeface="+mn-lt"/>
              </a:rPr>
              <a:t>during</a:t>
            </a:r>
            <a:r>
              <a:rPr lang="it-IT" sz="2400" dirty="0">
                <a:solidFill>
                  <a:prstClr val="black"/>
                </a:solidFill>
                <a:ea typeface="+mn-lt"/>
                <a:cs typeface="+mn-lt"/>
              </a:rPr>
              <a:t> training</a:t>
            </a:r>
            <a:endParaRPr lang="it-IT" dirty="0">
              <a:solidFill>
                <a:prstClr val="black"/>
              </a:solidFill>
              <a:cs typeface="Arial" panose="020B0604020202020204"/>
            </a:endParaRPr>
          </a:p>
        </p:txBody>
      </p:sp>
      <p:sp>
        <p:nvSpPr>
          <p:cNvPr id="41" name="CasellaDiTesto 1">
            <a:extLst>
              <a:ext uri="{FF2B5EF4-FFF2-40B4-BE49-F238E27FC236}">
                <a16:creationId xmlns:a16="http://schemas.microsoft.com/office/drawing/2014/main" id="{77F10FFF-34CE-8620-D326-8E749B556C0C}"/>
              </a:ext>
            </a:extLst>
          </p:cNvPr>
          <p:cNvSpPr txBox="1"/>
          <p:nvPr/>
        </p:nvSpPr>
        <p:spPr>
          <a:xfrm>
            <a:off x="483553" y="2705416"/>
            <a:ext cx="13700926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it-IT" sz="2400" b="1" dirty="0" err="1">
                <a:solidFill>
                  <a:prstClr val="black"/>
                </a:solidFill>
              </a:rPr>
              <a:t>Final</a:t>
            </a:r>
            <a:r>
              <a:rPr lang="it-IT" sz="2400" b="1" dirty="0">
                <a:solidFill>
                  <a:prstClr val="black"/>
                </a:solidFill>
              </a:rPr>
              <a:t>-Window </a:t>
            </a:r>
            <a:r>
              <a:rPr lang="it-IT" sz="2400" b="1" dirty="0" err="1">
                <a:solidFill>
                  <a:prstClr val="black"/>
                </a:solidFill>
              </a:rPr>
              <a:t>Reward</a:t>
            </a:r>
            <a:r>
              <a:rPr lang="it-IT" sz="2400" b="1" dirty="0">
                <a:solidFill>
                  <a:prstClr val="black"/>
                </a:solidFill>
              </a:rPr>
              <a:t>:</a:t>
            </a:r>
            <a:r>
              <a:rPr lang="it-IT" sz="2400" b="1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it-IT" sz="2400" dirty="0">
                <a:solidFill>
                  <a:prstClr val="black"/>
                </a:solidFill>
                <a:ea typeface="+mn-lt"/>
                <a:cs typeface="+mn-lt"/>
              </a:rPr>
              <a:t>Mean of the </a:t>
            </a:r>
            <a:r>
              <a:rPr lang="it-IT" sz="2400" dirty="0" err="1">
                <a:solidFill>
                  <a:prstClr val="black"/>
                </a:solidFill>
                <a:ea typeface="+mn-lt"/>
                <a:cs typeface="+mn-lt"/>
              </a:rPr>
              <a:t>final</a:t>
            </a:r>
            <a:r>
              <a:rPr lang="it-IT" sz="2400" dirty="0">
                <a:solidFill>
                  <a:prstClr val="black"/>
                </a:solidFill>
                <a:ea typeface="+mn-lt"/>
                <a:cs typeface="+mn-lt"/>
              </a:rPr>
              <a:t> 5 </a:t>
            </a:r>
            <a:r>
              <a:rPr lang="it-IT" sz="2400" dirty="0" err="1">
                <a:solidFill>
                  <a:prstClr val="black"/>
                </a:solidFill>
                <a:ea typeface="+mn-lt"/>
                <a:cs typeface="+mn-lt"/>
              </a:rPr>
              <a:t>evaluations</a:t>
            </a:r>
            <a:r>
              <a:rPr lang="it-IT" sz="24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endParaRPr lang="it-IT" sz="2400">
              <a:solidFill>
                <a:prstClr val="black"/>
              </a:solidFill>
              <a:cs typeface="Arial" panose="020B0604020202020204"/>
            </a:endParaRPr>
          </a:p>
        </p:txBody>
      </p:sp>
      <p:sp>
        <p:nvSpPr>
          <p:cNvPr id="43" name="CasellaDiTesto 1">
            <a:extLst>
              <a:ext uri="{FF2B5EF4-FFF2-40B4-BE49-F238E27FC236}">
                <a16:creationId xmlns:a16="http://schemas.microsoft.com/office/drawing/2014/main" id="{8C641A49-A717-1B66-0E96-36861C2E7185}"/>
              </a:ext>
            </a:extLst>
          </p:cNvPr>
          <p:cNvSpPr txBox="1"/>
          <p:nvPr/>
        </p:nvSpPr>
        <p:spPr>
          <a:xfrm>
            <a:off x="483553" y="3451650"/>
            <a:ext cx="13700926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it-IT" sz="2400" b="1" dirty="0" err="1">
                <a:solidFill>
                  <a:prstClr val="black"/>
                </a:solidFill>
                <a:ea typeface="+mn-lt"/>
                <a:cs typeface="+mn-lt"/>
              </a:rPr>
              <a:t>Normalized</a:t>
            </a:r>
            <a:r>
              <a:rPr lang="it-IT" sz="2400" b="1" dirty="0">
                <a:solidFill>
                  <a:prstClr val="black"/>
                </a:solidFill>
                <a:ea typeface="+mn-lt"/>
                <a:cs typeface="+mn-lt"/>
              </a:rPr>
              <a:t> AUC: </a:t>
            </a:r>
            <a:r>
              <a:rPr lang="it-IT" sz="2400" dirty="0">
                <a:solidFill>
                  <a:prstClr val="black"/>
                </a:solidFill>
                <a:ea typeface="+mn-lt"/>
                <a:cs typeface="+mn-lt"/>
              </a:rPr>
              <a:t>Overall performance </a:t>
            </a:r>
            <a:r>
              <a:rPr lang="it-IT" sz="2400" dirty="0" err="1">
                <a:solidFill>
                  <a:prstClr val="black"/>
                </a:solidFill>
                <a:ea typeface="+mn-lt"/>
                <a:cs typeface="+mn-lt"/>
              </a:rPr>
              <a:t>across</a:t>
            </a:r>
            <a:r>
              <a:rPr lang="it-IT" sz="2400" dirty="0">
                <a:solidFill>
                  <a:prstClr val="black"/>
                </a:solidFill>
                <a:ea typeface="+mn-lt"/>
                <a:cs typeface="+mn-lt"/>
              </a:rPr>
              <a:t> the learning curve</a:t>
            </a:r>
            <a:endParaRPr lang="it-IT" dirty="0">
              <a:solidFill>
                <a:prstClr val="black"/>
              </a:solidFill>
              <a:cs typeface="Arial" panose="020B0604020202020204"/>
            </a:endParaRPr>
          </a:p>
        </p:txBody>
      </p:sp>
      <p:sp>
        <p:nvSpPr>
          <p:cNvPr id="44" name="CasellaDiTesto 1">
            <a:extLst>
              <a:ext uri="{FF2B5EF4-FFF2-40B4-BE49-F238E27FC236}">
                <a16:creationId xmlns:a16="http://schemas.microsoft.com/office/drawing/2014/main" id="{569B4BAC-2EBA-B38F-FB85-B6D31D6A68C8}"/>
              </a:ext>
            </a:extLst>
          </p:cNvPr>
          <p:cNvSpPr txBox="1"/>
          <p:nvPr/>
        </p:nvSpPr>
        <p:spPr>
          <a:xfrm>
            <a:off x="483552" y="4166353"/>
            <a:ext cx="13700926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it-IT" sz="2400" b="1" dirty="0">
                <a:solidFill>
                  <a:prstClr val="black"/>
                </a:solidFill>
                <a:ea typeface="+mn-lt"/>
                <a:cs typeface="+mn-lt"/>
              </a:rPr>
              <a:t>Steps to </a:t>
            </a:r>
            <a:r>
              <a:rPr lang="it-IT" sz="2400" b="1" dirty="0" err="1">
                <a:solidFill>
                  <a:prstClr val="black"/>
                </a:solidFill>
                <a:ea typeface="+mn-lt"/>
                <a:cs typeface="+mn-lt"/>
              </a:rPr>
              <a:t>Reward</a:t>
            </a:r>
            <a:r>
              <a:rPr lang="it-IT" sz="2400" b="1" dirty="0">
                <a:solidFill>
                  <a:prstClr val="black"/>
                </a:solidFill>
                <a:ea typeface="+mn-lt"/>
                <a:cs typeface="+mn-lt"/>
              </a:rPr>
              <a:t> 700: </a:t>
            </a:r>
            <a:r>
              <a:rPr lang="it-IT" sz="2400" dirty="0">
                <a:solidFill>
                  <a:prstClr val="black"/>
                </a:solidFill>
                <a:ea typeface="+mn-lt"/>
                <a:cs typeface="+mn-lt"/>
              </a:rPr>
              <a:t>Sample-</a:t>
            </a:r>
            <a:r>
              <a:rPr lang="it-IT" sz="2400" dirty="0" err="1">
                <a:solidFill>
                  <a:prstClr val="black"/>
                </a:solidFill>
                <a:ea typeface="+mn-lt"/>
                <a:cs typeface="+mn-lt"/>
              </a:rPr>
              <a:t>efficiency</a:t>
            </a:r>
            <a:r>
              <a:rPr lang="it-IT" sz="24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it-IT" sz="2400" dirty="0" err="1">
                <a:solidFill>
                  <a:prstClr val="black"/>
                </a:solidFill>
                <a:ea typeface="+mn-lt"/>
                <a:cs typeface="+mn-lt"/>
              </a:rPr>
              <a:t>threshold</a:t>
            </a:r>
            <a:endParaRPr lang="it-IT" dirty="0" err="1">
              <a:solidFill>
                <a:prstClr val="black"/>
              </a:solidFill>
              <a:cs typeface="Arial" panose="020B0604020202020204"/>
            </a:endParaRPr>
          </a:p>
        </p:txBody>
      </p:sp>
      <p:sp>
        <p:nvSpPr>
          <p:cNvPr id="45" name="CasellaDiTesto 1">
            <a:extLst>
              <a:ext uri="{FF2B5EF4-FFF2-40B4-BE49-F238E27FC236}">
                <a16:creationId xmlns:a16="http://schemas.microsoft.com/office/drawing/2014/main" id="{2FDABEE2-CE46-756C-B0CA-897204F21545}"/>
              </a:ext>
            </a:extLst>
          </p:cNvPr>
          <p:cNvSpPr txBox="1"/>
          <p:nvPr/>
        </p:nvSpPr>
        <p:spPr>
          <a:xfrm>
            <a:off x="483552" y="4912587"/>
            <a:ext cx="13700926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Wingdings"/>
              <a:buChar char="§"/>
            </a:pPr>
            <a:r>
              <a:rPr lang="it-IT" sz="2400" b="1" dirty="0" err="1">
                <a:solidFill>
                  <a:prstClr val="black"/>
                </a:solidFill>
                <a:ea typeface="+mn-lt"/>
                <a:cs typeface="+mn-lt"/>
              </a:rPr>
              <a:t>Across</a:t>
            </a:r>
            <a:r>
              <a:rPr lang="it-IT" sz="2400" b="1" dirty="0">
                <a:solidFill>
                  <a:prstClr val="black"/>
                </a:solidFill>
                <a:ea typeface="+mn-lt"/>
                <a:cs typeface="+mn-lt"/>
              </a:rPr>
              <a:t>-Seed </a:t>
            </a:r>
            <a:r>
              <a:rPr lang="it-IT" sz="2400" b="1" dirty="0" err="1">
                <a:solidFill>
                  <a:prstClr val="black"/>
                </a:solidFill>
                <a:ea typeface="+mn-lt"/>
                <a:cs typeface="+mn-lt"/>
              </a:rPr>
              <a:t>Variability</a:t>
            </a:r>
            <a:r>
              <a:rPr lang="it-IT" sz="2400" b="1" dirty="0">
                <a:solidFill>
                  <a:prstClr val="black"/>
                </a:solidFill>
                <a:ea typeface="+mn-lt"/>
                <a:cs typeface="+mn-lt"/>
              </a:rPr>
              <a:t>: </a:t>
            </a:r>
            <a:r>
              <a:rPr lang="it-IT" sz="2400" dirty="0">
                <a:solidFill>
                  <a:prstClr val="black"/>
                </a:solidFill>
                <a:ea typeface="+mn-lt"/>
                <a:cs typeface="+mn-lt"/>
              </a:rPr>
              <a:t>Mean and standard </a:t>
            </a:r>
            <a:r>
              <a:rPr lang="it-IT" sz="2400" dirty="0" err="1">
                <a:solidFill>
                  <a:prstClr val="black"/>
                </a:solidFill>
                <a:ea typeface="+mn-lt"/>
                <a:cs typeface="+mn-lt"/>
              </a:rPr>
              <a:t>deviation</a:t>
            </a:r>
            <a:r>
              <a:rPr lang="it-IT" sz="2400" dirty="0">
                <a:solidFill>
                  <a:prstClr val="black"/>
                </a:solidFill>
                <a:ea typeface="+mn-lt"/>
                <a:cs typeface="+mn-lt"/>
              </a:rPr>
              <a:t> over 3 training </a:t>
            </a:r>
            <a:r>
              <a:rPr lang="it-IT" sz="2400" dirty="0" err="1">
                <a:solidFill>
                  <a:prstClr val="black"/>
                </a:solidFill>
                <a:ea typeface="+mn-lt"/>
                <a:cs typeface="+mn-lt"/>
              </a:rPr>
              <a:t>seeds</a:t>
            </a:r>
            <a:endParaRPr lang="it-IT" dirty="0" err="1">
              <a:solidFill>
                <a:prstClr val="black"/>
              </a:solidFill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28413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CAAA7-9749-53AE-EC9F-6EF5B0C7E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E417C5EE-6462-BE7D-89A1-A2E105E0386E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9BA17F-1467-6664-5C10-B6A83BD7A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z="1400" smtClean="0"/>
              <a:pPr/>
              <a:t>16</a:t>
            </a:fld>
            <a:r>
              <a:rPr lang="en-US" sz="1400"/>
              <a:t>/23</a:t>
            </a:r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698E681-319F-BE6E-2529-D1C229C10E10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F8B57767-216D-E86A-1D99-71B29727E4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CB868C7D-EB57-8F41-1BDC-1F2E51829B5F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ln w="0"/>
                <a:solidFill>
                  <a:schemeClr val="tx2"/>
                </a:solidFill>
              </a:rPr>
              <a:t>PPO Learning Curves</a:t>
            </a:r>
            <a:endParaRPr lang="en-US"/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B3E39245-5F26-73DE-82A9-592DB0C33ED0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noProof="0">
                <a:solidFill>
                  <a:schemeClr val="tx2"/>
                </a:solidFill>
              </a:rPr>
              <a:t>Dataset and Experimental Protocol </a:t>
            </a:r>
            <a:r>
              <a:rPr lang="en-GB">
                <a:solidFill>
                  <a:schemeClr val="tx2"/>
                </a:solidFill>
              </a:rPr>
              <a:t>○○○○●○</a:t>
            </a:r>
            <a:endParaRPr lang="en-GB" noProof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7E1E36-AB6D-F346-79E6-D83651903223}"/>
              </a:ext>
            </a:extLst>
          </p:cNvPr>
          <p:cNvSpPr txBox="1"/>
          <p:nvPr/>
        </p:nvSpPr>
        <p:spPr>
          <a:xfrm>
            <a:off x="11455880" y="2821370"/>
            <a:ext cx="3089252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Latent PPO achieves </a:t>
            </a:r>
            <a:r>
              <a:rPr lang="en-US" dirty="0">
                <a:ea typeface="+mn-lt"/>
                <a:cs typeface="+mn-lt"/>
              </a:rPr>
              <a:t>higher reward across most of training</a:t>
            </a:r>
            <a:endParaRPr lang="en-US">
              <a:cs typeface="Arial" panose="020B0604020202020204"/>
            </a:endParaRPr>
          </a:p>
          <a:p>
            <a:pPr marL="285750" indent="-285750">
              <a:buFont typeface="Wingdings"/>
              <a:buChar char="§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The reward-700 threshold </a:t>
            </a:r>
            <a:r>
              <a:rPr lang="en-US" dirty="0">
                <a:ea typeface="+mn-lt"/>
                <a:cs typeface="+mn-lt"/>
              </a:rPr>
              <a:t>is reached earlier</a:t>
            </a:r>
          </a:p>
          <a:p>
            <a:pPr marL="285750" indent="-285750">
              <a:buFont typeface="Wingdings"/>
              <a:buChar char="§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Wingdings"/>
              <a:buChar char="§"/>
            </a:pPr>
            <a:r>
              <a:rPr lang="en-US" dirty="0">
                <a:ea typeface="+mn-lt"/>
                <a:cs typeface="+mn-lt"/>
              </a:rPr>
              <a:t>Both methods remain variable across seeds</a:t>
            </a:r>
          </a:p>
        </p:txBody>
      </p:sp>
      <p:pic>
        <p:nvPicPr>
          <p:cNvPr id="10" name="Picture 9" descr="A graph of blue and orange lines&#10;&#10;AI-generated content may be incorrect.">
            <a:extLst>
              <a:ext uri="{FF2B5EF4-FFF2-40B4-BE49-F238E27FC236}">
                <a16:creationId xmlns:a16="http://schemas.microsoft.com/office/drawing/2014/main" id="{C37D0FC8-8F9A-A521-AFD6-4816FB70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29711"/>
            <a:ext cx="11351171" cy="643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335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D975C-0621-571E-35C5-185B4E69A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34BE3209-DFB8-5FFB-C3B3-22B0DDF6A43B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4A5DF5A-71A6-15B4-F5B7-4A1DB11E5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z="1400" smtClean="0"/>
              <a:pPr/>
              <a:t>17</a:t>
            </a:fld>
            <a:r>
              <a:rPr lang="en-US" sz="1400"/>
              <a:t>/23</a:t>
            </a:r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68A672B-2A4B-D57F-0861-AFE9BBF4AB56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DB365995-AC0B-2135-D703-E83F045495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3C5EB95B-C8FE-114E-13DE-8DFD86D5E870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ln w="0"/>
                <a:solidFill>
                  <a:schemeClr val="tx2"/>
                </a:solidFill>
              </a:rPr>
              <a:t>PPO Results Summary</a:t>
            </a:r>
            <a:endParaRPr lang="en-US"/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463C5217-6AE3-906C-C164-7F2DB21CC788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noProof="0">
                <a:solidFill>
                  <a:schemeClr val="tx2"/>
                </a:solidFill>
              </a:rPr>
              <a:t>Dataset and Experimental Protocol </a:t>
            </a:r>
            <a:r>
              <a:rPr lang="en-GB">
                <a:solidFill>
                  <a:schemeClr val="tx2"/>
                </a:solidFill>
              </a:rPr>
              <a:t>○○○○○●</a:t>
            </a:r>
            <a:endParaRPr lang="en-GB" noProof="0">
              <a:solidFill>
                <a:schemeClr val="tx2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7D5787-BA38-24A3-00E9-B4910BA00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385686"/>
              </p:ext>
            </p:extLst>
          </p:nvPr>
        </p:nvGraphicFramePr>
        <p:xfrm>
          <a:off x="2022190" y="1395038"/>
          <a:ext cx="10595608" cy="4835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902">
                  <a:extLst>
                    <a:ext uri="{9D8B030D-6E8A-4147-A177-3AD203B41FA5}">
                      <a16:colId xmlns:a16="http://schemas.microsoft.com/office/drawing/2014/main" val="1842237912"/>
                    </a:ext>
                  </a:extLst>
                </a:gridCol>
                <a:gridCol w="2648902">
                  <a:extLst>
                    <a:ext uri="{9D8B030D-6E8A-4147-A177-3AD203B41FA5}">
                      <a16:colId xmlns:a16="http://schemas.microsoft.com/office/drawing/2014/main" val="2963323626"/>
                    </a:ext>
                  </a:extLst>
                </a:gridCol>
                <a:gridCol w="2648902">
                  <a:extLst>
                    <a:ext uri="{9D8B030D-6E8A-4147-A177-3AD203B41FA5}">
                      <a16:colId xmlns:a16="http://schemas.microsoft.com/office/drawing/2014/main" val="1539999549"/>
                    </a:ext>
                  </a:extLst>
                </a:gridCol>
                <a:gridCol w="2648902">
                  <a:extLst>
                    <a:ext uri="{9D8B030D-6E8A-4147-A177-3AD203B41FA5}">
                      <a16:colId xmlns:a16="http://schemas.microsoft.com/office/drawing/2014/main" val="709933904"/>
                    </a:ext>
                  </a:extLst>
                </a:gridCol>
              </a:tblGrid>
              <a:tr h="674369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Raw PPO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Latent PPO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Difference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6804667"/>
                  </a:ext>
                </a:extLst>
              </a:tr>
              <a:tr h="104022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Best evaluation reward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798.1 ± 71.7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882.4 ± 40.5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+10.6%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6215323"/>
                  </a:ext>
                </a:extLst>
              </a:tr>
              <a:tr h="104022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Final 5-eval 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459.2 ± 211.3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685.1 ± 127.4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+49.2%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318049"/>
                  </a:ext>
                </a:extLst>
              </a:tr>
              <a:tr h="104022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Normalized 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377.8 ± 120.0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567.5 ± 134.5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+50.2%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381090"/>
                  </a:ext>
                </a:extLst>
              </a:tr>
              <a:tr h="104022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Steps to reward 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960k ± 529k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520k ± 394k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−45.8%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3775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D1E08A-B32E-51AC-6201-538F8BB032BA}"/>
              </a:ext>
            </a:extLst>
          </p:cNvPr>
          <p:cNvSpPr txBox="1"/>
          <p:nvPr/>
        </p:nvSpPr>
        <p:spPr>
          <a:xfrm>
            <a:off x="2017460" y="6650157"/>
            <a:ext cx="105963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Mean ± standard deviation across 3 training seeds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Latent PPO outperformed raw-pixel PPO on all predefined aggregate metrics.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28544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Tm="18764">
        <p159:morph option="byObject"/>
      </p:transition>
    </mc:Choice>
    <mc:Fallback>
      <p:transition spd="med" advTm="18764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3F415-E2EB-AEFC-ABBA-3515A120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6D9F9ED9-8440-65DD-C411-4ED8402EE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66B8750F-4D25-2F86-12E2-FAEE3B6FDB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449E17-31C0-D2DC-D270-15C951C22C93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8ACFA6-0AF0-D856-1710-5AD9A67BAC71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>
                <a:solidFill>
                  <a:prstClr val="white"/>
                </a:solidFill>
                <a:latin typeface="Arial Nova" panose="020F0502020204030204" pitchFamily="34" charset="0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633610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374D0-2A00-0C51-E935-192E1180B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E8E0E2C-0874-D49A-5E41-44C096D0C7B7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407F7D8-2471-C4FF-2BF8-404975F9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z="1400" smtClean="0"/>
              <a:pPr/>
              <a:t>19</a:t>
            </a:fld>
            <a:r>
              <a:rPr lang="en-US" sz="1400"/>
              <a:t>/23</a:t>
            </a:r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E3512DB-D938-362B-A623-549ED345C546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2EB1857D-706B-175E-5AD0-C54F1337C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D9C644F5-2434-58CB-B6AE-526037247AFD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ln w="0"/>
                <a:solidFill>
                  <a:schemeClr val="tx2"/>
                </a:solidFill>
              </a:rPr>
              <a:t>Critical Discussion</a:t>
            </a:r>
            <a:endParaRPr lang="en-US"/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A74776C1-F4AC-B7CB-3233-C4C6420CB205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noProof="0">
                <a:solidFill>
                  <a:schemeClr val="tx2"/>
                </a:solidFill>
              </a:rPr>
              <a:t>Critical Discussion and Limitations </a:t>
            </a:r>
            <a:r>
              <a:rPr lang="en-GB">
                <a:solidFill>
                  <a:schemeClr val="tx2"/>
                </a:solidFill>
              </a:rPr>
              <a:t>●○</a:t>
            </a:r>
            <a:endParaRPr lang="en-GB" noProof="0">
              <a:solidFill>
                <a:schemeClr val="tx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D3B36C-C7B1-C1E0-EB97-A92BB060FCD8}"/>
              </a:ext>
            </a:extLst>
          </p:cNvPr>
          <p:cNvSpPr txBox="1"/>
          <p:nvPr/>
        </p:nvSpPr>
        <p:spPr>
          <a:xfrm>
            <a:off x="1048801" y="1340858"/>
            <a:ext cx="5256354" cy="55399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4C0000"/>
                </a:solidFill>
                <a:cs typeface="Arial"/>
              </a:rPr>
              <a:t>What Worked</a:t>
            </a:r>
          </a:p>
          <a:p>
            <a:endParaRPr lang="en-US" sz="2400" dirty="0">
              <a:cs typeface="Arial"/>
            </a:endParaRPr>
          </a:p>
          <a:p>
            <a:pPr marL="285750" indent="-285750">
              <a:buFont typeface="Wingdings"/>
              <a:buChar char="§"/>
            </a:pPr>
            <a:r>
              <a:rPr lang="en-US" sz="2400">
                <a:cs typeface="Arial"/>
              </a:rPr>
              <a:t>Latent PPO outperformed raw PPO on all aggregate metrics</a:t>
            </a:r>
            <a:endParaRPr lang="en-US" sz="2400" dirty="0">
              <a:cs typeface="Arial"/>
            </a:endParaRPr>
          </a:p>
          <a:p>
            <a:pPr marL="285750" indent="-285750">
              <a:buFont typeface="Wingdings"/>
              <a:buChar char="§"/>
            </a:pPr>
            <a:endParaRPr lang="en-US" sz="2400" dirty="0">
              <a:cs typeface="Arial"/>
            </a:endParaRPr>
          </a:p>
          <a:p>
            <a:pPr marL="285750" indent="-285750">
              <a:buFont typeface="Wingdings"/>
              <a:buChar char="§"/>
            </a:pPr>
            <a:r>
              <a:rPr lang="en-US" sz="2400">
                <a:ea typeface="+mn-lt"/>
                <a:cs typeface="+mn-lt"/>
              </a:rPr>
              <a:t>Reward 700 was reached with 46% fewer timesteps</a:t>
            </a:r>
            <a:endParaRPr lang="en-US" sz="2400" dirty="0">
              <a:cs typeface="Arial" panose="020B0604020202020204"/>
            </a:endParaRPr>
          </a:p>
          <a:p>
            <a:pPr>
              <a:buFont typeface="Wingdings"/>
              <a:buChar char="§"/>
            </a:pPr>
            <a:endParaRPr lang="en-US" sz="2400" dirty="0">
              <a:cs typeface="Arial" panose="020B0604020202020204"/>
            </a:endParaRPr>
          </a:p>
          <a:p>
            <a:pPr marL="285750" indent="-285750">
              <a:buFont typeface="Wingdings"/>
              <a:buChar char="§"/>
            </a:pPr>
            <a:r>
              <a:rPr lang="en-US" sz="2400">
                <a:ea typeface="+mn-lt"/>
                <a:cs typeface="+mn-lt"/>
              </a:rPr>
              <a:t>Final-window reward improved by 49%</a:t>
            </a:r>
            <a:endParaRPr lang="en-US" sz="2400" dirty="0">
              <a:cs typeface="Arial" panose="020B0604020202020204"/>
            </a:endParaRPr>
          </a:p>
          <a:p>
            <a:pPr>
              <a:buFont typeface="Wingdings"/>
              <a:buChar char="§"/>
            </a:pPr>
            <a:endParaRPr lang="en-US" sz="2400" dirty="0">
              <a:cs typeface="Arial" panose="020B0604020202020204"/>
            </a:endParaRPr>
          </a:p>
          <a:p>
            <a:pPr marL="285750" indent="-285750">
              <a:buFont typeface="Wingdings"/>
              <a:buChar char="§"/>
            </a:pPr>
            <a:r>
              <a:rPr lang="en-US" sz="2400">
                <a:ea typeface="+mn-lt"/>
                <a:cs typeface="+mn-lt"/>
              </a:rPr>
              <a:t>The advantage appeared across all three seeds for AUC and best reward</a:t>
            </a:r>
            <a:endParaRPr lang="en-US" sz="2400" dirty="0">
              <a:cs typeface="Arial" panose="020B0604020202020204"/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55C79F-CEB5-DA15-C7E1-8C9556637B8F}"/>
              </a:ext>
            </a:extLst>
          </p:cNvPr>
          <p:cNvSpPr txBox="1"/>
          <p:nvPr/>
        </p:nvSpPr>
        <p:spPr>
          <a:xfrm>
            <a:off x="7320191" y="1338624"/>
            <a:ext cx="6929730" cy="6001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3A0000"/>
                </a:solidFill>
                <a:cs typeface="Arial"/>
              </a:rPr>
              <a:t>What The Results Mean</a:t>
            </a:r>
            <a:endParaRPr lang="en-US" sz="2400" dirty="0">
              <a:solidFill>
                <a:srgbClr val="3A0000"/>
              </a:solidFill>
              <a:cs typeface="Arial"/>
            </a:endParaRPr>
          </a:p>
          <a:p>
            <a:endParaRPr lang="en-US" sz="2400" dirty="0">
              <a:cs typeface="Arial"/>
            </a:endParaRPr>
          </a:p>
          <a:p>
            <a:pPr marL="342900" indent="-342900">
              <a:buFont typeface="Wingdings"/>
              <a:buChar char="§"/>
            </a:pPr>
            <a:r>
              <a:rPr lang="en-US" sz="2400">
                <a:latin typeface="Arial"/>
                <a:ea typeface="+mn-lt"/>
                <a:cs typeface="+mn-lt"/>
              </a:rPr>
              <a:t>The results suggest that reconstruction pretraining captured useful driving information</a:t>
            </a:r>
          </a:p>
          <a:p>
            <a:endParaRPr lang="en-US" sz="2400" dirty="0">
              <a:cs typeface="Arial"/>
            </a:endParaRPr>
          </a:p>
          <a:p>
            <a:pPr marL="342900" indent="-342900">
              <a:buFont typeface="Wingdings"/>
              <a:buChar char="§"/>
            </a:pPr>
            <a:r>
              <a:rPr lang="en-US" sz="2400">
                <a:ea typeface="+mn-lt"/>
                <a:cs typeface="+mn-lt"/>
              </a:rPr>
              <a:t>Dimensionality was reduced from 27,648 </a:t>
            </a:r>
            <a:r>
              <a:rPr lang="en-US" sz="2400" dirty="0">
                <a:ea typeface="+mn-lt"/>
                <a:cs typeface="+mn-lt"/>
              </a:rPr>
              <a:t>values to 128</a:t>
            </a:r>
            <a:endParaRPr lang="en-US" sz="2400" dirty="0">
              <a:cs typeface="Arial"/>
            </a:endParaRPr>
          </a:p>
          <a:p>
            <a:endParaRPr lang="en-US" sz="2400" dirty="0">
              <a:cs typeface="Arial"/>
            </a:endParaRPr>
          </a:p>
          <a:p>
            <a:pPr marL="342900" indent="-342900">
              <a:buFont typeface="Wingdings"/>
              <a:buChar char="§"/>
            </a:pPr>
            <a:r>
              <a:rPr lang="en-US" sz="2400">
                <a:latin typeface="Arial"/>
                <a:ea typeface="+mn-lt"/>
                <a:cs typeface="+mn-lt"/>
              </a:rPr>
              <a:t>The frozen representation appears to have simplified policy learning</a:t>
            </a:r>
            <a:endParaRPr lang="en-US" sz="2400" dirty="0">
              <a:latin typeface="Arial"/>
              <a:ea typeface="+mn-lt"/>
              <a:cs typeface="+mn-lt"/>
            </a:endParaRPr>
          </a:p>
          <a:p>
            <a:endParaRPr lang="en-US" sz="2400" dirty="0">
              <a:cs typeface="Arial"/>
            </a:endParaRPr>
          </a:p>
          <a:p>
            <a:pPr marL="342900" indent="-342900">
              <a:buFont typeface="Wingdings"/>
              <a:buChar char="§"/>
            </a:pPr>
            <a:r>
              <a:rPr lang="en-US" sz="2400" dirty="0">
                <a:ea typeface="+mn-lt"/>
                <a:cs typeface="+mn-lt"/>
              </a:rPr>
              <a:t>Separating perception and control was beneficial in this experiment</a:t>
            </a:r>
          </a:p>
          <a:p>
            <a:pPr marL="342900" indent="-342900">
              <a:buFont typeface="Wingdings"/>
              <a:buChar char="§"/>
            </a:pPr>
            <a:endParaRPr lang="en-US" sz="2400" dirty="0">
              <a:cs typeface="Arial"/>
            </a:endParaRPr>
          </a:p>
          <a:p>
            <a:pPr marL="342900" indent="-342900">
              <a:buFont typeface="Wingdings"/>
              <a:buChar char="§"/>
            </a:pPr>
            <a:r>
              <a:rPr lang="en-US" sz="2400" dirty="0">
                <a:ea typeface="+mn-lt"/>
                <a:cs typeface="+mn-lt"/>
              </a:rPr>
              <a:t>The frozen autoencoder improved learning, but it did not eliminate PPO variability.</a:t>
            </a:r>
            <a:endParaRPr lang="en-US" sz="2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0791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2764D4-4600-5DD3-578E-4F7D2141D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267CD69-445C-BD67-A034-8B405272E248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7D4C78B-3D77-3154-7059-2BF3E5C5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z="1400" smtClean="0"/>
              <a:pPr/>
              <a:t>20</a:t>
            </a:fld>
            <a:r>
              <a:rPr lang="en-US" sz="1400"/>
              <a:t>/23</a:t>
            </a:r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797AE73-5F15-35AA-6462-04E515DDB37D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764CA9D0-75A6-C693-E76F-C5D7080115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3D3C3B1F-6B21-4DAA-C68F-0E0CC017E63D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ln w="0"/>
                <a:solidFill>
                  <a:schemeClr val="tx2"/>
                </a:solidFill>
              </a:rPr>
              <a:t>Limitations</a:t>
            </a:r>
            <a:endParaRPr lang="en-US"/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CB87EE6F-3F17-4435-1840-4E6E998422A9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noProof="0">
                <a:solidFill>
                  <a:schemeClr val="tx2"/>
                </a:solidFill>
              </a:rPr>
              <a:t>Critical Discussion and Limitations </a:t>
            </a:r>
            <a:r>
              <a:rPr lang="en-GB">
                <a:solidFill>
                  <a:schemeClr val="tx2"/>
                </a:solidFill>
              </a:rPr>
              <a:t>○●</a:t>
            </a:r>
            <a:endParaRPr lang="en-GB" noProof="0">
              <a:solidFill>
                <a:schemeClr val="tx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8C1C2B-FFCC-1427-B6A5-EBDB8C3384B0}"/>
              </a:ext>
            </a:extLst>
          </p:cNvPr>
          <p:cNvSpPr txBox="1"/>
          <p:nvPr/>
        </p:nvSpPr>
        <p:spPr>
          <a:xfrm>
            <a:off x="460223" y="1719230"/>
            <a:ext cx="13696160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dirty="0">
              <a:solidFill>
                <a:srgbClr val="4C0000"/>
              </a:solidFill>
              <a:cs typeface="Arial"/>
            </a:endParaRPr>
          </a:p>
          <a:p>
            <a:pPr marL="285750" indent="-285750">
              <a:buFont typeface="Wingdings"/>
              <a:buChar char="§"/>
            </a:pPr>
            <a:r>
              <a:rPr lang="en-US" sz="2400" b="1">
                <a:cs typeface="Arial"/>
              </a:rPr>
              <a:t>Limited Statistical Evidence:</a:t>
            </a:r>
            <a:r>
              <a:rPr lang="en-US" sz="2400" dirty="0">
                <a:cs typeface="Arial"/>
              </a:rPr>
              <a:t> </a:t>
            </a:r>
            <a:r>
              <a:rPr lang="en-US" sz="2400">
                <a:ea typeface="+mn-lt"/>
                <a:cs typeface="+mn-lt"/>
              </a:rPr>
              <a:t>Only three training seeds were evaluated</a:t>
            </a:r>
            <a:endParaRPr lang="en-US" sz="2400" dirty="0">
              <a:cs typeface="Arial"/>
            </a:endParaRPr>
          </a:p>
          <a:p>
            <a:pPr marL="285750" indent="-285750">
              <a:buFont typeface="Wingdings"/>
              <a:buChar char="§"/>
            </a:pPr>
            <a:endParaRPr lang="en-US" sz="2400" dirty="0">
              <a:cs typeface="Arial"/>
            </a:endParaRPr>
          </a:p>
          <a:p>
            <a:pPr marL="285750" indent="-285750">
              <a:buFont typeface="Wingdings"/>
              <a:buChar char="§"/>
            </a:pPr>
            <a:r>
              <a:rPr lang="en-US" sz="2400" b="1" dirty="0">
                <a:ea typeface="+mn-lt"/>
                <a:cs typeface="+mn-lt"/>
              </a:rPr>
              <a:t>Dataset Bias:</a:t>
            </a:r>
            <a:r>
              <a:rPr lang="en-US" sz="2400" dirty="0">
                <a:ea typeface="+mn-lt"/>
                <a:cs typeface="+mn-lt"/>
              </a:rPr>
              <a:t> Frames were collected from states visited by previous PPO policies</a:t>
            </a:r>
          </a:p>
          <a:p>
            <a:pPr>
              <a:buFont typeface="Wingdings"/>
              <a:buChar char="§"/>
            </a:pPr>
            <a:endParaRPr lang="en-US" sz="2400" dirty="0">
              <a:cs typeface="Arial"/>
            </a:endParaRPr>
          </a:p>
          <a:p>
            <a:pPr marL="285750" indent="-285750">
              <a:buFont typeface="Wingdings"/>
              <a:buChar char="§"/>
            </a:pPr>
            <a:r>
              <a:rPr lang="en-US" sz="2400" b="1" dirty="0">
                <a:ea typeface="+mn-lt"/>
                <a:cs typeface="+mn-lt"/>
              </a:rPr>
              <a:t>Reconstruction Objective:</a:t>
            </a:r>
            <a:r>
              <a:rPr lang="en-US" sz="2400" dirty="0">
                <a:ea typeface="+mn-lt"/>
                <a:cs typeface="+mn-lt"/>
              </a:rPr>
              <a:t> MSE optimizes pixel similarity, not control-relevant information</a:t>
            </a:r>
            <a:endParaRPr lang="en-US" sz="2400" dirty="0">
              <a:cs typeface="Arial"/>
            </a:endParaRPr>
          </a:p>
          <a:p>
            <a:pPr>
              <a:buFont typeface="Wingdings"/>
              <a:buChar char="§"/>
            </a:pPr>
            <a:endParaRPr lang="en-US" sz="2400" dirty="0">
              <a:cs typeface="Arial"/>
            </a:endParaRPr>
          </a:p>
          <a:p>
            <a:pPr marL="285750" indent="-285750">
              <a:buFont typeface="Wingdings"/>
              <a:buChar char="§"/>
            </a:pPr>
            <a:r>
              <a:rPr lang="en-US" sz="2400" b="1" dirty="0">
                <a:ea typeface="+mn-lt"/>
                <a:cs typeface="+mn-lt"/>
              </a:rPr>
              <a:t>Visual Inp</a:t>
            </a:r>
            <a:r>
              <a:rPr lang="en-US" sz="2400" b="1" dirty="0">
                <a:cs typeface="Arial"/>
              </a:rPr>
              <a:t>ut:</a:t>
            </a:r>
            <a:r>
              <a:rPr lang="en-US" sz="2400" dirty="0">
                <a:cs typeface="Arial"/>
              </a:rPr>
              <a:t> </a:t>
            </a:r>
            <a:r>
              <a:rPr lang="en-US" sz="2400" dirty="0" err="1">
                <a:ea typeface="+mn-lt"/>
                <a:cs typeface="+mn-lt"/>
              </a:rPr>
              <a:t>CarRacing</a:t>
            </a:r>
            <a:r>
              <a:rPr lang="en-US" sz="2400" dirty="0">
                <a:ea typeface="+mn-lt"/>
                <a:cs typeface="+mn-lt"/>
              </a:rPr>
              <a:t> observations include the simulator HUD</a:t>
            </a:r>
            <a:endParaRPr lang="en-US" sz="2400" dirty="0">
              <a:cs typeface="Arial"/>
            </a:endParaRPr>
          </a:p>
          <a:p>
            <a:pPr marL="285750" indent="-285750">
              <a:buFont typeface="Wingdings"/>
              <a:buChar char="§"/>
            </a:pPr>
            <a:endParaRPr lang="en-US" sz="2400" dirty="0">
              <a:cs typeface="Arial"/>
            </a:endParaRPr>
          </a:p>
          <a:p>
            <a:pPr marL="285750" indent="-285750">
              <a:buFont typeface="Wingdings"/>
              <a:buChar char="§"/>
            </a:pPr>
            <a:r>
              <a:rPr lang="en-US" sz="2400" b="1">
                <a:cs typeface="Arial"/>
              </a:rPr>
              <a:t>Experimental Scope:</a:t>
            </a:r>
            <a:r>
              <a:rPr lang="en-US" sz="2400">
                <a:cs typeface="Arial"/>
              </a:rPr>
              <a:t> </a:t>
            </a:r>
            <a:r>
              <a:rPr lang="en-US" sz="2400">
                <a:ea typeface="+mn-lt"/>
                <a:cs typeface="+mn-lt"/>
              </a:rPr>
              <a:t>One environment, one latent dimension and one main learning rate</a:t>
            </a: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Wingdings"/>
              <a:buChar char="§"/>
            </a:pPr>
            <a:endParaRPr lang="en-US" sz="2400" dirty="0">
              <a:cs typeface="Arial"/>
            </a:endParaRPr>
          </a:p>
          <a:p>
            <a:pPr marL="285750" indent="-285750">
              <a:buFont typeface="Wingdings"/>
              <a:buChar char="§"/>
            </a:pPr>
            <a:r>
              <a:rPr lang="en-US" sz="2400" b="1">
                <a:cs typeface="Arial"/>
              </a:rPr>
              <a:t>Frozen Encoder:</a:t>
            </a:r>
            <a:r>
              <a:rPr lang="en-US" sz="2400">
                <a:cs typeface="Arial"/>
              </a:rPr>
              <a:t> </a:t>
            </a:r>
            <a:r>
              <a:rPr lang="en-US" sz="2400">
                <a:ea typeface="+mn-lt"/>
                <a:cs typeface="+mn-lt"/>
              </a:rPr>
              <a:t>The representation cannot adapt during policy learning</a:t>
            </a:r>
            <a:endParaRPr lang="en-US" sz="2400" dirty="0">
              <a:cs typeface="Arial"/>
            </a:endParaRPr>
          </a:p>
          <a:p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55554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Tm="18764">
        <p159:morph option="byObject"/>
      </p:transition>
    </mc:Choice>
    <mc:Fallback>
      <p:transition spd="med" advTm="18764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97AF5-FD98-2353-B461-AF7AB0C47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F214AB1C-F7D8-8DE9-E978-29DBED57B5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AA872068-2C44-7B6A-6691-1E04370F394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A7070C-D112-B03B-E219-79B5A8D6E660}"/>
              </a:ext>
            </a:extLst>
          </p:cNvPr>
          <p:cNvSpPr txBox="1"/>
          <p:nvPr/>
        </p:nvSpPr>
        <p:spPr>
          <a:xfrm>
            <a:off x="2452183" y="725448"/>
            <a:ext cx="110443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360" b="0" i="0" u="none" strike="noStrike" kern="1200" cap="none" spc="0" normalizeH="0" baseline="0" noProof="0">
                <a:ln w="0"/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of Contents</a:t>
            </a:r>
            <a:endParaRPr kumimoji="0" lang="en-US" sz="3360" b="0" i="0" u="none" strike="noStrike" kern="1200" cap="none" spc="0" normalizeH="0" baseline="0" noProof="0">
              <a:ln w="0"/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07E7F8-37E4-AA31-0811-953F2BAB31EF}"/>
              </a:ext>
            </a:extLst>
          </p:cNvPr>
          <p:cNvSpPr txBox="1"/>
          <p:nvPr/>
        </p:nvSpPr>
        <p:spPr>
          <a:xfrm>
            <a:off x="1148031" y="1832723"/>
            <a:ext cx="12348514" cy="4663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>
                <a:solidFill>
                  <a:prstClr val="black">
                    <a:lumMod val="50000"/>
                    <a:lumOff val="50000"/>
                  </a:prstClr>
                </a:solidFill>
                <a:latin typeface="Arial Nova" panose="020F0502020204030204" pitchFamily="34" charset="0"/>
              </a:rPr>
              <a:t>Context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Problem and Motivation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Related Work and Gap with Respect to the State of the Art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Proposed Solution and Our Contribution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Dataset and Experimental Protocol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kumimoji="0" lang="en-GB" sz="288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ova" panose="020F0502020204030204" pitchFamily="34" charset="0"/>
                <a:ea typeface="+mn-ea"/>
                <a:cs typeface="+mn-cs"/>
              </a:rPr>
              <a:t>Critical Discussion and Limitations</a:t>
            </a:r>
          </a:p>
          <a:p>
            <a:pPr marL="411480" marR="0" lvl="0" indent="-411480" algn="l" defTabSz="109728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ova" panose="020B0504020202020204" pitchFamily="34" charset="0"/>
              <a:buChar char="›"/>
              <a:tabLst/>
              <a:defRPr/>
            </a:pPr>
            <a:r>
              <a:rPr lang="en-GB" sz="2880">
                <a:solidFill>
                  <a:prstClr val="white"/>
                </a:solidFill>
                <a:latin typeface="Arial Nova" panose="020F0502020204030204" pitchFamily="34" charset="0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451325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CC563-587D-2F98-B344-7B53D869D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2D74B8ED-5262-2C11-E4A8-2D17049E0CE6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79BE318-3B07-B484-6770-F58A59F80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z="1400" smtClean="0"/>
              <a:pPr/>
              <a:t>22</a:t>
            </a:fld>
            <a:r>
              <a:rPr lang="en-US" sz="1400"/>
              <a:t>/23</a:t>
            </a:r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804296A-31F5-2DA8-DFFB-0862BA07320A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4A6C5DF0-C8F4-B9E9-C8D1-82EF80A345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DB14ADCF-CDBA-9526-E00C-D1872E21CEBC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ln w="0"/>
                <a:solidFill>
                  <a:schemeClr val="tx2"/>
                </a:solidFill>
              </a:rPr>
              <a:t>Conclusion</a:t>
            </a:r>
            <a:endParaRPr lang="en-US"/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BAAB5A63-9FC3-DD3D-C9E5-287BC00EF861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noProof="0">
                <a:solidFill>
                  <a:schemeClr val="tx2"/>
                </a:solidFill>
              </a:rPr>
              <a:t>Conclusion and Future Work </a:t>
            </a:r>
            <a:r>
              <a:rPr lang="en-GB">
                <a:solidFill>
                  <a:schemeClr val="tx2"/>
                </a:solidFill>
              </a:rPr>
              <a:t>●○</a:t>
            </a:r>
            <a:endParaRPr lang="en-GB" noProof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214290-8D55-3821-3AFB-72E9672F7A3C}"/>
              </a:ext>
            </a:extLst>
          </p:cNvPr>
          <p:cNvSpPr txBox="1"/>
          <p:nvPr/>
        </p:nvSpPr>
        <p:spPr>
          <a:xfrm>
            <a:off x="847661" y="1668780"/>
            <a:ext cx="1299984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ea typeface="+mn-lt"/>
                <a:cs typeface="+mn-lt"/>
              </a:rPr>
              <a:t>Does a frozen autoencoder representation improve PPO training from visual observations?</a:t>
            </a:r>
            <a:endParaRPr lang="en-US"/>
          </a:p>
          <a:p>
            <a:pPr algn="ctr"/>
            <a:r>
              <a:rPr lang="en-US" sz="2400" b="1">
                <a:latin typeface="Consolas"/>
                <a:ea typeface="+mn-lt"/>
                <a:cs typeface="+mn-lt"/>
              </a:rPr>
              <a:t>Yes, within the tested CarRacing-v3 setting and experimental budget.</a:t>
            </a:r>
            <a:endParaRPr lang="en-US" sz="2400" b="1">
              <a:latin typeface="Consola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34D94DA-CC29-8DE4-70A1-ABD19F18F79E}"/>
              </a:ext>
            </a:extLst>
          </p:cNvPr>
          <p:cNvSpPr/>
          <p:nvPr/>
        </p:nvSpPr>
        <p:spPr>
          <a:xfrm>
            <a:off x="3684796" y="2948150"/>
            <a:ext cx="2907818" cy="90415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+10.6%</a:t>
            </a:r>
            <a:endParaRPr lang="en-US"/>
          </a:p>
          <a:p>
            <a:pPr algn="ctr"/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Best evaluation reward</a:t>
            </a:r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1BB4A1-3EE1-3990-FA98-12E35A6E60A6}"/>
              </a:ext>
            </a:extLst>
          </p:cNvPr>
          <p:cNvSpPr/>
          <p:nvPr/>
        </p:nvSpPr>
        <p:spPr>
          <a:xfrm>
            <a:off x="7699746" y="2948149"/>
            <a:ext cx="2907818" cy="90415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+49.2%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Final-window reward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B09506-CC39-CED0-0E06-16CA207BE675}"/>
              </a:ext>
            </a:extLst>
          </p:cNvPr>
          <p:cNvSpPr/>
          <p:nvPr/>
        </p:nvSpPr>
        <p:spPr>
          <a:xfrm>
            <a:off x="7352904" y="4272451"/>
            <a:ext cx="3601499" cy="110384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+50.2%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Normalized learning-curve AUC</a:t>
            </a:r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0025C34-70F8-8DE1-D201-D5C796C3BDF4}"/>
              </a:ext>
            </a:extLst>
          </p:cNvPr>
          <p:cNvSpPr/>
          <p:nvPr/>
        </p:nvSpPr>
        <p:spPr>
          <a:xfrm>
            <a:off x="3337952" y="4272451"/>
            <a:ext cx="3601499" cy="110384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−45.8%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Timesteps required to reach reward 700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DEEC829-0E86-9BDD-B96B-7E71691C2B02}"/>
              </a:ext>
            </a:extLst>
          </p:cNvPr>
          <p:cNvSpPr/>
          <p:nvPr/>
        </p:nvSpPr>
        <p:spPr>
          <a:xfrm>
            <a:off x="3684793" y="5680837"/>
            <a:ext cx="6922768" cy="137711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A compact frozen representation improved sample efficiency and overall performance, but PPO remained variable across training seeds.</a:t>
            </a:r>
            <a:endParaRPr lang="en-US" sz="2000">
              <a:solidFill>
                <a:schemeClr val="tx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8629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66E85E-3EB8-9C3D-64AE-1DB057101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11B2B974-7F47-42E6-FD76-7499749A50E3}"/>
              </a:ext>
            </a:extLst>
          </p:cNvPr>
          <p:cNvSpPr txBox="1">
            <a:spLocks/>
          </p:cNvSpPr>
          <p:nvPr/>
        </p:nvSpPr>
        <p:spPr>
          <a:xfrm>
            <a:off x="1" y="7676890"/>
            <a:ext cx="14630400" cy="546100"/>
          </a:xfrm>
          <a:prstGeom prst="rect">
            <a:avLst/>
          </a:prstGeom>
          <a:solidFill>
            <a:srgbClr val="5C000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855750B-C6C7-7BD1-584D-E4E0B8945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" y="7676890"/>
            <a:ext cx="838200" cy="546099"/>
          </a:xfrm>
          <a:noFill/>
        </p:spPr>
        <p:txBody>
          <a:bodyPr/>
          <a:lstStyle/>
          <a:p>
            <a:fld id="{064EB808-9DE5-4B01-8298-DD0372440E09}" type="slidenum">
              <a:rPr lang="en-US" sz="1400" smtClean="0"/>
              <a:pPr/>
              <a:t>23</a:t>
            </a:fld>
            <a:r>
              <a:rPr lang="en-US" sz="1400"/>
              <a:t>/23</a:t>
            </a:r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759A4D9-31B9-196D-4BD6-664DC58F8ECE}"/>
              </a:ext>
            </a:extLst>
          </p:cNvPr>
          <p:cNvSpPr txBox="1"/>
          <p:nvPr/>
        </p:nvSpPr>
        <p:spPr>
          <a:xfrm>
            <a:off x="6583680" y="7778419"/>
            <a:ext cx="8037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Lab: Computer Vision – Signal Processing – Natural Language Processing</a:t>
            </a:r>
          </a:p>
        </p:txBody>
      </p:sp>
      <p:pic>
        <p:nvPicPr>
          <p:cNvPr id="29" name="Immagine 28" descr="Sapienza - Università di Roma - Innovazione Aperta - LazioInnova">
            <a:extLst>
              <a:ext uri="{FF2B5EF4-FFF2-40B4-BE49-F238E27FC236}">
                <a16:creationId xmlns:a16="http://schemas.microsoft.com/office/drawing/2014/main" id="{DA4838E6-68DF-DB5F-6EDB-2508B3688F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3" t="22184" r="66359" b="22240"/>
          <a:stretch>
            <a:fillRect/>
          </a:stretch>
        </p:blipFill>
        <p:spPr>
          <a:xfrm>
            <a:off x="463893" y="9144"/>
            <a:ext cx="1170988" cy="1224000"/>
          </a:xfrm>
          <a:prstGeom prst="rect">
            <a:avLst/>
          </a:prstGeom>
        </p:spPr>
      </p:pic>
      <p:sp>
        <p:nvSpPr>
          <p:cNvPr id="30" name="TextBox 3">
            <a:extLst>
              <a:ext uri="{FF2B5EF4-FFF2-40B4-BE49-F238E27FC236}">
                <a16:creationId xmlns:a16="http://schemas.microsoft.com/office/drawing/2014/main" id="{E04867A1-3381-D5CE-2323-90F9528CDF3B}"/>
              </a:ext>
            </a:extLst>
          </p:cNvPr>
          <p:cNvSpPr txBox="1"/>
          <p:nvPr/>
        </p:nvSpPr>
        <p:spPr>
          <a:xfrm>
            <a:off x="1835956" y="563024"/>
            <a:ext cx="123305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ln w="0"/>
                <a:solidFill>
                  <a:schemeClr val="tx2"/>
                </a:solidFill>
              </a:rPr>
              <a:t>Future Work</a:t>
            </a:r>
            <a:endParaRPr lang="en-US"/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BC6764D5-07DA-9C33-73D7-5AA5C9ABC807}"/>
              </a:ext>
            </a:extLst>
          </p:cNvPr>
          <p:cNvSpPr txBox="1"/>
          <p:nvPr/>
        </p:nvSpPr>
        <p:spPr>
          <a:xfrm>
            <a:off x="1835956" y="163805"/>
            <a:ext cx="1164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noProof="0">
                <a:solidFill>
                  <a:schemeClr val="tx2"/>
                </a:solidFill>
              </a:rPr>
              <a:t>Conclusion and Future Work </a:t>
            </a:r>
            <a:r>
              <a:rPr lang="en-GB">
                <a:solidFill>
                  <a:schemeClr val="tx2"/>
                </a:solidFill>
              </a:rPr>
              <a:t>○●</a:t>
            </a:r>
            <a:endParaRPr lang="en-GB" noProof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D9834A-0AEB-080C-A3A2-9C3F45C2E8D7}"/>
              </a:ext>
            </a:extLst>
          </p:cNvPr>
          <p:cNvSpPr txBox="1"/>
          <p:nvPr/>
        </p:nvSpPr>
        <p:spPr>
          <a:xfrm>
            <a:off x="847661" y="1668780"/>
            <a:ext cx="12999849" cy="54630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§"/>
            </a:pPr>
            <a:r>
              <a:rPr lang="en-US" sz="2400" b="1"/>
              <a:t>Task-Aware Representation Learning: </a:t>
            </a:r>
            <a:r>
              <a:rPr lang="en-US" sz="2400">
                <a:ea typeface="+mn-lt"/>
                <a:cs typeface="+mn-lt"/>
              </a:rPr>
              <a:t>Fine-tune the encoder during PPO or combine reconstruction and RL losses</a:t>
            </a:r>
            <a:endParaRPr lang="en-US" sz="2400">
              <a:cs typeface="Arial" panose="020B0604020202020204"/>
            </a:endParaRPr>
          </a:p>
          <a:p>
            <a:pPr marL="285750" indent="-285750">
              <a:buFont typeface="Wingdings"/>
              <a:buChar char="§"/>
            </a:pPr>
            <a:endParaRPr lang="en-US" sz="2400" dirty="0">
              <a:cs typeface="Arial"/>
            </a:endParaRPr>
          </a:p>
          <a:p>
            <a:pPr marL="342900" indent="-342900">
              <a:buFont typeface="Wingdings"/>
              <a:buChar char="§"/>
            </a:pPr>
            <a:r>
              <a:rPr lang="en-US" sz="2400" b="1" dirty="0"/>
              <a:t>Better Visual Objectives: </a:t>
            </a:r>
            <a:r>
              <a:rPr lang="en-US" sz="2400" dirty="0">
                <a:ea typeface="+mn-lt"/>
                <a:cs typeface="+mn-lt"/>
              </a:rPr>
              <a:t>Contrastive learning, augmentation or sharper reconstruction losses</a:t>
            </a:r>
            <a:endParaRPr lang="en-US" sz="2400" dirty="0">
              <a:cs typeface="Arial"/>
            </a:endParaRPr>
          </a:p>
          <a:p>
            <a:pPr marL="342900" indent="-342900">
              <a:buFont typeface="Wingdings"/>
              <a:buChar char="§"/>
            </a:pPr>
            <a:endParaRPr lang="en-US" sz="2400" dirty="0">
              <a:cs typeface="Arial"/>
            </a:endParaRPr>
          </a:p>
          <a:p>
            <a:pPr marL="342900" indent="-342900">
              <a:buFont typeface="Wingdings"/>
              <a:buChar char="§"/>
            </a:pPr>
            <a:r>
              <a:rPr lang="en-US" sz="2400" b="1" dirty="0"/>
              <a:t>Broader Evaluation: </a:t>
            </a:r>
            <a:r>
              <a:rPr lang="en-US" sz="2400" dirty="0">
                <a:ea typeface="+mn-lt"/>
                <a:cs typeface="+mn-lt"/>
              </a:rPr>
              <a:t>More seeds, different latent dimensions and additional visual-control environments</a:t>
            </a:r>
            <a:endParaRPr lang="en-US" sz="2400">
              <a:cs typeface="Arial"/>
            </a:endParaRPr>
          </a:p>
          <a:p>
            <a:endParaRPr lang="en-US" sz="2400" dirty="0">
              <a:cs typeface="Arial"/>
            </a:endParaRPr>
          </a:p>
          <a:p>
            <a:pPr marL="342900" indent="-342900">
              <a:buFont typeface="Wingdings"/>
              <a:buChar char="§"/>
            </a:pPr>
            <a:r>
              <a:rPr lang="en-US" sz="2400" b="1" dirty="0"/>
              <a:t>Robustness: </a:t>
            </a:r>
            <a:r>
              <a:rPr lang="en-US" sz="2400" dirty="0">
                <a:ea typeface="+mn-lt"/>
                <a:cs typeface="+mn-lt"/>
              </a:rPr>
              <a:t>Noise, blur, brightness changes, occlusions and domain randomization</a:t>
            </a:r>
            <a:endParaRPr lang="en-US" sz="2400" dirty="0">
              <a:cs typeface="Arial"/>
            </a:endParaRPr>
          </a:p>
          <a:p>
            <a:endParaRPr lang="en-US" sz="2400" dirty="0">
              <a:cs typeface="Arial"/>
            </a:endParaRPr>
          </a:p>
          <a:p>
            <a:endParaRPr lang="en-US" sz="2400" dirty="0"/>
          </a:p>
          <a:p>
            <a:pPr marL="342900" indent="-342900">
              <a:buFont typeface="Wingdings"/>
              <a:buChar char="§"/>
            </a:pPr>
            <a:r>
              <a:rPr lang="en-US" sz="2400" b="1"/>
              <a:t>Observation Preprocessing: </a:t>
            </a:r>
            <a:r>
              <a:rPr lang="en-US" sz="2400">
                <a:ea typeface="+mn-lt"/>
                <a:cs typeface="+mn-lt"/>
              </a:rPr>
              <a:t>Remove the HUD and focus the encoder on the road scene</a:t>
            </a:r>
          </a:p>
          <a:p>
            <a:endParaRPr lang="en-US" sz="1300" dirty="0">
              <a:solidFill>
                <a:srgbClr val="CCCCCC"/>
              </a:solidFill>
              <a:cs typeface="Arial"/>
            </a:endParaRPr>
          </a:p>
          <a:p>
            <a:endParaRPr lang="en-US" sz="2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8844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Tm="18764">
        <p159:morph option="byObject"/>
      </p:transition>
    </mc:Choice>
    <mc:Fallback>
      <p:transition spd="med" advTm="18764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AE0F2A-42F6-FC82-99C1-ECA523031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2592F1A4-D7E9-B489-D41E-1AD40B4A86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1133856" y="-2054"/>
            <a:ext cx="1182624" cy="1355366"/>
          </a:xfrm>
          <a:prstGeom prst="rect">
            <a:avLst/>
          </a:prstGeom>
        </p:spPr>
      </p:pic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826B54C8-9005-F796-8445-49921626876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1133856" y="0"/>
            <a:ext cx="1182624" cy="13533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192F418-5FF2-31F9-3419-7D61BC07BE8E}"/>
              </a:ext>
            </a:extLst>
          </p:cNvPr>
          <p:cNvSpPr txBox="1"/>
          <p:nvPr/>
        </p:nvSpPr>
        <p:spPr>
          <a:xfrm>
            <a:off x="0" y="2069483"/>
            <a:ext cx="1463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800" i="1">
                <a:solidFill>
                  <a:schemeClr val="bg1"/>
                </a:solidFill>
                <a:latin typeface="+mj-lt"/>
              </a:rPr>
              <a:t>THANK YOU FOR LISTENING!</a:t>
            </a:r>
          </a:p>
          <a:p>
            <a:pPr algn="ctr"/>
            <a:r>
              <a:rPr lang="it-IT" sz="2800" i="1">
                <a:solidFill>
                  <a:schemeClr val="bg1"/>
                </a:solidFill>
                <a:latin typeface="+mj-lt"/>
              </a:rPr>
              <a:t>ANY QUESTIONS?</a:t>
            </a:r>
            <a:endParaRPr lang="en-US" sz="2800" i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Immagine 5" descr="Decreto #IoRestoaCasa, domande frequenti sulle misure adottate dal Governo  - CERIMONIE, EVENTI E ATTIVITA' RICREATIVE - Montesegale">
            <a:extLst>
              <a:ext uri="{FF2B5EF4-FFF2-40B4-BE49-F238E27FC236}">
                <a16:creationId xmlns:a16="http://schemas.microsoft.com/office/drawing/2014/main" id="{D5749F58-5FB8-7840-00F3-8A76FBC8E6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9140" y="3132813"/>
            <a:ext cx="2932121" cy="428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80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8764">
        <p159:morph option="byObject"/>
      </p:transition>
    </mc:Choice>
    <mc:Fallback xmlns="">
      <p:transition spd="med" advTm="18764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Thesis">
      <a:dk1>
        <a:sysClr val="windowText" lastClr="000000"/>
      </a:dk1>
      <a:lt1>
        <a:sysClr val="window" lastClr="FFFFFF"/>
      </a:lt1>
      <a:dk2>
        <a:srgbClr val="822433"/>
      </a:dk2>
      <a:lt2>
        <a:srgbClr val="E7E6E6"/>
      </a:lt2>
      <a:accent1>
        <a:srgbClr val="C00000"/>
      </a:accent1>
      <a:accent2>
        <a:srgbClr val="F995BB"/>
      </a:accent2>
      <a:accent3>
        <a:srgbClr val="FBCDE0"/>
      </a:accent3>
      <a:accent4>
        <a:srgbClr val="FEDEEB"/>
      </a:accent4>
      <a:accent5>
        <a:srgbClr val="92D050"/>
      </a:accent5>
      <a:accent6>
        <a:srgbClr val="48A1FA"/>
      </a:accent6>
      <a:hlink>
        <a:srgbClr val="FF0000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24</Slides>
  <Notes>24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703</cp:revision>
  <dcterms:created xsi:type="dcterms:W3CDTF">2013-01-27T09:14:16Z</dcterms:created>
  <dcterms:modified xsi:type="dcterms:W3CDTF">2026-06-11T09:37:09Z</dcterms:modified>
  <cp:category/>
</cp:coreProperties>
</file>